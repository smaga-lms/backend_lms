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02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6" autoAdjust="0"/>
    <p:restoredTop sz="94660"/>
  </p:normalViewPr>
  <p:slideViewPr>
    <p:cSldViewPr>
      <p:cViewPr varScale="1">
        <p:scale>
          <a:sx n="67" d="100"/>
          <a:sy n="67" d="100"/>
        </p:scale>
        <p:origin x="125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126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id-ID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endParaRPr lang="id-ID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id-ID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C47B12F5-F9F7-40E9-B1E5-FE2EA2D0B35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88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id-ID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endParaRPr lang="id-ID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id-ID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4CF23B78-60B7-440B-9252-54B0B6E852F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533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C899CF-59ED-49CB-AEC3-474E43621F35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21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84C831-82A7-45A7-90F0-0B9CAE5E76A3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053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B8B98B-AFDE-4D2F-B076-4349A666FE1D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8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A7AFB6-6266-4116-8333-A2128C1E8544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43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10A7AD-B564-41A1-A848-F5839F522F2F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64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DA463A-25D7-41BB-8A9B-530FB2A087AB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AFCD5D-7185-4777-B744-9680F668608A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59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43547A-9379-4A5F-A134-EA0985188594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44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8178D7-0EF4-4474-87EF-E71CA678D3A9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93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597478-BE41-4180-BA92-1F24A017C923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8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110E7E-80AE-412A-9111-1BAB37938374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237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8137EF-B4BB-47B7-A0C5-6808B9E9A6AB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89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28F657-6FEF-409F-83DA-1C83DEBDE957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659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770559-CCB3-43E6-8B5F-2B9AA012D5A7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86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6D007B-FF54-4808-B953-35E49A8F6C2E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088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63CDC0-8757-4217-947B-31F481E0DA3D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68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544731-A23B-4609-A1BB-01CA027E3802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99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49D16D-0A6C-4CE5-9A98-A7AD99A79D25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959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0DE1D9-8D40-41DF-8B6E-75AD1FD1A56F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50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F6FA55-722E-4C08-85EE-70142F4581CB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165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5BCD87-BF9B-4CFB-8D42-0D4FCE6A301D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097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173AFE-FC66-41E5-A685-327B1302A361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511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01BEE7-6F0D-4CA0-A6AB-F8CBAF0A6713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39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5FC081-3E3C-4929-8972-0B0892A6287A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529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0E1241-02F2-4F97-81B1-1932FD8AF63B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566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010204-539D-46B6-912D-9148639E5B71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628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3578B9-92F6-4D0D-A046-86F46B531943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081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F7BE2EF-7060-4390-ABA8-A1217E009AB7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7444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6B4C19-393E-445F-A50B-CA4166490665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756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1F9AF7-B358-4472-B7D7-7CCF3AAB2D69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008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 smtClean="0">
              <a:latin typeface="Arial" pitchFamily="34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5FC760-ED4E-4895-A4E2-DE292A86AE34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626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9139237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/>
        </p:nvSpPr>
        <p:spPr>
          <a:xfrm>
            <a:off x="1691679" y="1628800"/>
            <a:ext cx="7452319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35696" y="2708920"/>
            <a:ext cx="7128792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 dirty="0" smtClean="0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4295527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pPr>
              <a:defRPr/>
            </a:pPr>
            <a:r>
              <a:rPr lang="en-US" smtClean="0"/>
              <a:t>Bina Nusantara University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DC57E1C-3EFE-41B3-B70B-E425313B3F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4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NewB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37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371600"/>
            <a:ext cx="6837114" cy="792088"/>
          </a:xfrm>
        </p:spPr>
        <p:txBody>
          <a:bodyPr>
            <a:normAutofit/>
          </a:bodyPr>
          <a:lstStyle>
            <a:lvl1pPr algn="ctr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 smtClean="0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pPr>
              <a:defRPr/>
            </a:pPr>
            <a:r>
              <a:rPr lang="en-US" smtClean="0"/>
              <a:t>Bina Nusantara University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5EF37AB3-5357-45AF-95FE-87EC5E8361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914400" y="2286000"/>
            <a:ext cx="7848600" cy="3721596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61869989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064" y="2636912"/>
            <a:ext cx="3538736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Bina Nusantara University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224E-7CA7-4AF3-BDEC-452F09E7F9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2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672" y="2708920"/>
            <a:ext cx="3456384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0072" y="2708919"/>
            <a:ext cx="3466728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Bina Nusantara University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D912-1E5F-4E20-B501-856AEB0D73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2200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985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Bina Nusantara University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895F-F828-4C1B-ABE8-E7EE46320A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1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4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636912"/>
            <a:ext cx="7067128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Bina Nusantara University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37AB3-5357-45AF-95FE-87EC5E83616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14" descr="header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04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1891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oleObject" Target="../embeddings/oleObject1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aelinik.free.fr/c/ch06.htm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5696" y="3356992"/>
            <a:ext cx="7128792" cy="1470025"/>
          </a:xfrm>
        </p:spPr>
        <p:txBody>
          <a:bodyPr>
            <a:normAutofit/>
          </a:bodyPr>
          <a:lstStyle/>
          <a:p>
            <a:r>
              <a:rPr lang="en-AU" sz="32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Operator, Operand, and Arithmetic</a:t>
            </a:r>
            <a:endParaRPr lang="id-ID" sz="3200" dirty="0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691680" y="1628800"/>
            <a:ext cx="8786812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tabLst>
                <a:tab pos="1320800" algn="l"/>
              </a:tabLst>
            </a:pPr>
            <a:r>
              <a:rPr lang="en-US" sz="24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Subject	: </a:t>
            </a:r>
            <a:r>
              <a:rPr lang="id-ID" sz="2400" b="1" dirty="0" smtClean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COMP6047</a:t>
            </a:r>
          </a:p>
          <a:p>
            <a:pPr>
              <a:spcBef>
                <a:spcPct val="20000"/>
              </a:spcBef>
              <a:tabLst>
                <a:tab pos="1320800" algn="l"/>
              </a:tabLst>
            </a:pPr>
            <a:r>
              <a:rPr lang="id-ID" sz="24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	</a:t>
            </a:r>
            <a:r>
              <a:rPr lang="id-ID" sz="2400" b="1" dirty="0" smtClean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  </a:t>
            </a:r>
            <a:r>
              <a:rPr lang="en-US" sz="2400" b="1" dirty="0" smtClean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ALGORITHM AND PROGRAMMING</a:t>
            </a:r>
          </a:p>
          <a:p>
            <a:pPr>
              <a:spcBef>
                <a:spcPct val="20000"/>
              </a:spcBef>
              <a:tabLst>
                <a:tab pos="1320800" algn="l"/>
              </a:tabLst>
            </a:pPr>
            <a:r>
              <a:rPr lang="en-US" sz="24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Year	: </a:t>
            </a:r>
            <a:r>
              <a:rPr lang="en-US" sz="2400" b="1" dirty="0" smtClean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201</a:t>
            </a:r>
            <a:r>
              <a:rPr lang="id-ID" sz="24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9</a:t>
            </a:r>
            <a:endParaRPr lang="en-US" sz="2400" b="1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42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latin typeface="Tahoma" pitchFamily="34" charset="0"/>
                <a:cs typeface="Tahoma" pitchFamily="34" charset="0"/>
              </a:rPr>
              <a:t>Learning Outcomes</a:t>
            </a:r>
          </a:p>
        </p:txBody>
      </p:sp>
      <p:sp>
        <p:nvSpPr>
          <p:cNvPr id="788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  <p:sp>
        <p:nvSpPr>
          <p:cNvPr id="409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728FBE-1C30-420C-8803-2EF49E11C016}" type="slidenum">
              <a:rPr lang="en-US">
                <a:latin typeface="Tahoma" pitchFamily="34" charset="0"/>
                <a:cs typeface="Tahoma" pitchFamily="34" charset="0"/>
              </a:rPr>
              <a:pPr/>
              <a:t>2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mtClean="0">
                <a:latin typeface="Tahoma" pitchFamily="34" charset="0"/>
                <a:cs typeface="Tahoma" pitchFamily="34" charset="0"/>
              </a:rPr>
              <a:t>At the end of this session, student will be able to:</a:t>
            </a:r>
          </a:p>
          <a:p>
            <a:r>
              <a:rPr lang="en-US" smtClean="0">
                <a:latin typeface="Tahoma" pitchFamily="34" charset="0"/>
                <a:cs typeface="Tahoma" pitchFamily="34" charset="0"/>
              </a:rPr>
              <a:t>Creating instructions using various operator in C programming language (LO1 &amp; LO2)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latin typeface="Tahoma" pitchFamily="34" charset="0"/>
                <a:cs typeface="Tahoma" pitchFamily="34" charset="0"/>
              </a:rPr>
              <a:t>Sub Topics</a:t>
            </a:r>
          </a:p>
        </p:txBody>
      </p:sp>
      <p:sp>
        <p:nvSpPr>
          <p:cNvPr id="512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79D93C1-450B-47F5-8D88-ECF9C62E2E77}" type="slidenum">
              <a:rPr lang="en-US">
                <a:latin typeface="Tahoma" pitchFamily="34" charset="0"/>
                <a:cs typeface="Tahoma" pitchFamily="34" charset="0"/>
              </a:rPr>
              <a:pPr/>
              <a:t>3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Operator, Operand, and Arithmetic:</a:t>
            </a:r>
          </a:p>
          <a:p>
            <a:pPr>
              <a:lnSpc>
                <a:spcPct val="90000"/>
              </a:lnSpc>
              <a:buFont typeface="Tahoma" pitchFamily="34" charset="0"/>
              <a:buChar char="–"/>
            </a:pPr>
            <a:r>
              <a:rPr lang="en-US" smtClean="0">
                <a:latin typeface="Tahoma" pitchFamily="34" charset="0"/>
                <a:cs typeface="Tahoma" pitchFamily="34" charset="0"/>
              </a:rPr>
              <a:t>Operator and Operand Introduction </a:t>
            </a:r>
          </a:p>
          <a:p>
            <a:pPr>
              <a:lnSpc>
                <a:spcPct val="90000"/>
              </a:lnSpc>
              <a:buFont typeface="Tahoma" pitchFamily="34" charset="0"/>
              <a:buChar char="–"/>
            </a:pPr>
            <a:r>
              <a:rPr lang="en-US" smtClean="0">
                <a:latin typeface="Tahoma" pitchFamily="34" charset="0"/>
                <a:cs typeface="Tahoma" pitchFamily="34" charset="0"/>
              </a:rPr>
              <a:t>Assignment Operators </a:t>
            </a:r>
          </a:p>
          <a:p>
            <a:pPr>
              <a:lnSpc>
                <a:spcPct val="90000"/>
              </a:lnSpc>
              <a:buFont typeface="Tahoma" pitchFamily="34" charset="0"/>
              <a:buChar char="–"/>
            </a:pPr>
            <a:r>
              <a:rPr lang="en-US" smtClean="0">
                <a:latin typeface="Tahoma" pitchFamily="34" charset="0"/>
                <a:cs typeface="Tahoma" pitchFamily="34" charset="0"/>
              </a:rPr>
              <a:t>Arithmetic Operators </a:t>
            </a:r>
          </a:p>
          <a:p>
            <a:pPr>
              <a:lnSpc>
                <a:spcPct val="90000"/>
              </a:lnSpc>
              <a:buFont typeface="Tahoma" pitchFamily="34" charset="0"/>
              <a:buChar char="–"/>
            </a:pPr>
            <a:r>
              <a:rPr lang="en-US" smtClean="0">
                <a:latin typeface="Tahoma" pitchFamily="34" charset="0"/>
                <a:cs typeface="Tahoma" pitchFamily="34" charset="0"/>
              </a:rPr>
              <a:t>Relational Operators </a:t>
            </a:r>
          </a:p>
          <a:p>
            <a:pPr>
              <a:lnSpc>
                <a:spcPct val="90000"/>
              </a:lnSpc>
              <a:buFont typeface="Tahoma" pitchFamily="34" charset="0"/>
              <a:buChar char="–"/>
            </a:pPr>
            <a:r>
              <a:rPr lang="en-US" smtClean="0">
                <a:latin typeface="Tahoma" pitchFamily="34" charset="0"/>
                <a:cs typeface="Tahoma" pitchFamily="34" charset="0"/>
              </a:rPr>
              <a:t>Conditional Expressions </a:t>
            </a:r>
          </a:p>
          <a:p>
            <a:pPr>
              <a:lnSpc>
                <a:spcPct val="90000"/>
              </a:lnSpc>
              <a:buFont typeface="Tahoma" pitchFamily="34" charset="0"/>
              <a:buChar char="–"/>
            </a:pPr>
            <a:r>
              <a:rPr lang="en-US" smtClean="0">
                <a:latin typeface="Tahoma" pitchFamily="34" charset="0"/>
                <a:cs typeface="Tahoma" pitchFamily="34" charset="0"/>
              </a:rPr>
              <a:t>Logical Operators </a:t>
            </a:r>
          </a:p>
          <a:p>
            <a:pPr>
              <a:lnSpc>
                <a:spcPct val="90000"/>
              </a:lnSpc>
              <a:buFont typeface="Tahoma" pitchFamily="34" charset="0"/>
              <a:buChar char="–"/>
            </a:pPr>
            <a:r>
              <a:rPr lang="en-US" smtClean="0">
                <a:latin typeface="Tahoma" pitchFamily="34" charset="0"/>
                <a:cs typeface="Tahoma" pitchFamily="34" charset="0"/>
              </a:rPr>
              <a:t>Bitwise Operators </a:t>
            </a:r>
          </a:p>
          <a:p>
            <a:pPr>
              <a:lnSpc>
                <a:spcPct val="90000"/>
              </a:lnSpc>
              <a:buFont typeface="Tahoma" pitchFamily="34" charset="0"/>
              <a:buChar char="–"/>
            </a:pPr>
            <a:r>
              <a:rPr lang="en-US" smtClean="0">
                <a:latin typeface="Tahoma" pitchFamily="34" charset="0"/>
                <a:cs typeface="Tahoma" pitchFamily="34" charset="0"/>
              </a:rPr>
              <a:t>Pointer Operators </a:t>
            </a:r>
          </a:p>
          <a:p>
            <a:pPr>
              <a:lnSpc>
                <a:spcPct val="90000"/>
              </a:lnSpc>
              <a:buFont typeface="Tahoma" pitchFamily="34" charset="0"/>
              <a:buChar char="–"/>
            </a:pPr>
            <a:r>
              <a:rPr lang="en-US" smtClean="0">
                <a:latin typeface="Tahoma" pitchFamily="34" charset="0"/>
                <a:cs typeface="Tahoma" pitchFamily="34" charset="0"/>
              </a:rPr>
              <a:t>Precedence and Associative </a:t>
            </a:r>
          </a:p>
          <a:p>
            <a:pPr>
              <a:lnSpc>
                <a:spcPct val="90000"/>
              </a:lnSpc>
              <a:buFont typeface="Tahoma" pitchFamily="34" charset="0"/>
              <a:buChar char="–"/>
            </a:pPr>
            <a:r>
              <a:rPr lang="en-US" smtClean="0">
                <a:latin typeface="Tahoma" pitchFamily="34" charset="0"/>
                <a:cs typeface="Tahoma" pitchFamily="34" charset="0"/>
              </a:rPr>
              <a:t>Exercise</a:t>
            </a:r>
            <a:endParaRPr lang="en-US" b="1" smtClean="0">
              <a:latin typeface="Tahoma" pitchFamily="34" charset="0"/>
              <a:cs typeface="Tahoma" pitchFamily="34" charset="0"/>
            </a:endParaRPr>
          </a:p>
          <a:p>
            <a:pPr marL="873125" lvl="1" indent="-415925">
              <a:lnSpc>
                <a:spcPct val="90000"/>
              </a:lnSpc>
            </a:pPr>
            <a:endParaRPr lang="en-US" sz="2400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Operator and Operand Introduction </a:t>
            </a:r>
          </a:p>
        </p:txBody>
      </p:sp>
      <p:sp>
        <p:nvSpPr>
          <p:cNvPr id="614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F249B7-9358-4A75-A9EE-83A09600E01C}" type="slidenum">
              <a:rPr lang="en-US">
                <a:latin typeface="Tahoma" pitchFamily="34" charset="0"/>
                <a:cs typeface="Tahoma" pitchFamily="34" charset="0"/>
              </a:rPr>
              <a:pPr/>
              <a:t>4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2286000"/>
            <a:ext cx="7848600" cy="416733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000" b="1" dirty="0" smtClean="0">
                <a:latin typeface="Tahoma" pitchFamily="34" charset="0"/>
                <a:cs typeface="Tahoma" pitchFamily="34" charset="0"/>
              </a:rPr>
              <a:t>Operator </a:t>
            </a:r>
            <a:r>
              <a:rPr lang="en-US" sz="2000" dirty="0" smtClean="0">
                <a:latin typeface="Tahoma" pitchFamily="34" charset="0"/>
                <a:cs typeface="Tahoma" pitchFamily="34" charset="0"/>
              </a:rPr>
              <a:t>is a symbol to process values in result for a new value</a:t>
            </a:r>
          </a:p>
          <a:p>
            <a:pPr>
              <a:lnSpc>
                <a:spcPct val="110000"/>
              </a:lnSpc>
            </a:pPr>
            <a:endParaRPr lang="en-US" sz="2000" dirty="0" smtClean="0">
              <a:latin typeface="Tahoma" pitchFamily="34" charset="0"/>
              <a:cs typeface="Tahoma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000" b="1" dirty="0" smtClean="0">
                <a:latin typeface="Tahoma" pitchFamily="34" charset="0"/>
                <a:cs typeface="Tahoma" pitchFamily="34" charset="0"/>
              </a:rPr>
              <a:t>Operand</a:t>
            </a:r>
            <a:r>
              <a:rPr lang="en-US" sz="2000" dirty="0" smtClean="0">
                <a:latin typeface="Tahoma" pitchFamily="34" charset="0"/>
                <a:cs typeface="Tahoma" pitchFamily="34" charset="0"/>
              </a:rPr>
              <a:t> is part which specifies what data is to be manipulated or operated on</a:t>
            </a:r>
          </a:p>
          <a:p>
            <a:pPr>
              <a:lnSpc>
                <a:spcPct val="110000"/>
              </a:lnSpc>
            </a:pPr>
            <a:endParaRPr lang="en-US" sz="2000" dirty="0" smtClean="0">
              <a:latin typeface="Tahoma" pitchFamily="34" charset="0"/>
              <a:cs typeface="Tahoma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000" dirty="0" smtClean="0">
                <a:latin typeface="Tahoma" pitchFamily="34" charset="0"/>
                <a:cs typeface="Tahoma" pitchFamily="34" charset="0"/>
              </a:rPr>
              <a:t>Example  :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sz="2000" b="1" dirty="0" smtClean="0">
                <a:latin typeface="Tahoma" pitchFamily="34" charset="0"/>
                <a:cs typeface="Tahoma" pitchFamily="34" charset="0"/>
              </a:rPr>
              <a:t>		C = A + B	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sz="2000" b="1" dirty="0" smtClean="0">
                <a:latin typeface="Tahoma" pitchFamily="34" charset="0"/>
                <a:cs typeface="Tahoma" pitchFamily="34" charset="0"/>
              </a:rPr>
              <a:t>		</a:t>
            </a:r>
            <a:r>
              <a:rPr lang="en-US" sz="2000" dirty="0" smtClean="0">
                <a:latin typeface="Tahoma" pitchFamily="34" charset="0"/>
                <a:cs typeface="Tahoma" pitchFamily="34" charset="0"/>
              </a:rPr>
              <a:t>(= and + sign are </a:t>
            </a:r>
            <a:r>
              <a:rPr lang="en-US" sz="2000" b="1" dirty="0" smtClean="0">
                <a:latin typeface="Tahoma" pitchFamily="34" charset="0"/>
                <a:cs typeface="Tahoma" pitchFamily="34" charset="0"/>
              </a:rPr>
              <a:t>operators</a:t>
            </a:r>
            <a:r>
              <a:rPr lang="en-US" sz="2000" dirty="0" smtClean="0">
                <a:latin typeface="Tahoma" pitchFamily="34" charset="0"/>
                <a:cs typeface="Tahoma" pitchFamily="34" charset="0"/>
              </a:rPr>
              <a:t>, A, B and C are </a:t>
            </a:r>
            <a:r>
              <a:rPr lang="en-US" sz="2000" b="1" dirty="0" smtClean="0">
                <a:latin typeface="Tahoma" pitchFamily="34" charset="0"/>
                <a:cs typeface="Tahoma" pitchFamily="34" charset="0"/>
              </a:rPr>
              <a:t>operands</a:t>
            </a:r>
            <a:r>
              <a:rPr lang="en-US" sz="2000" dirty="0" smtClean="0">
                <a:latin typeface="Tahoma" pitchFamily="34" charset="0"/>
                <a:cs typeface="Tahoma" pitchFamily="34" charset="0"/>
              </a:rPr>
              <a:t>)</a:t>
            </a:r>
          </a:p>
          <a:p>
            <a:pPr lvl="3">
              <a:lnSpc>
                <a:spcPct val="110000"/>
              </a:lnSpc>
              <a:buFontTx/>
              <a:buNone/>
            </a:pPr>
            <a:endParaRPr lang="en-US" sz="2000" dirty="0" smtClean="0">
              <a:latin typeface="Tahoma" pitchFamily="34" charset="0"/>
              <a:cs typeface="Tahoma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000" dirty="0" smtClean="0">
                <a:latin typeface="Tahoma" pitchFamily="34" charset="0"/>
                <a:cs typeface="Tahoma" pitchFamily="34" charset="0"/>
              </a:rPr>
              <a:t>Based on its operand number, operator can be divided into three: </a:t>
            </a:r>
          </a:p>
          <a:p>
            <a:pPr lvl="1">
              <a:lnSpc>
                <a:spcPct val="110000"/>
              </a:lnSpc>
            </a:pPr>
            <a:r>
              <a:rPr lang="en-US" b="1" dirty="0" smtClean="0">
                <a:latin typeface="Tahoma" pitchFamily="34" charset="0"/>
                <a:cs typeface="Tahoma" pitchFamily="34" charset="0"/>
              </a:rPr>
              <a:t>Unary operator		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(needs one operand)</a:t>
            </a:r>
          </a:p>
          <a:p>
            <a:pPr lvl="1">
              <a:lnSpc>
                <a:spcPct val="110000"/>
              </a:lnSpc>
            </a:pPr>
            <a:r>
              <a:rPr lang="en-US" b="1" dirty="0" smtClean="0">
                <a:latin typeface="Tahoma" pitchFamily="34" charset="0"/>
                <a:cs typeface="Tahoma" pitchFamily="34" charset="0"/>
              </a:rPr>
              <a:t>Binary operator		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(needs two operands)</a:t>
            </a:r>
          </a:p>
          <a:p>
            <a:pPr lvl="1">
              <a:lnSpc>
                <a:spcPct val="110000"/>
              </a:lnSpc>
            </a:pPr>
            <a:r>
              <a:rPr lang="en-US" b="1" dirty="0" smtClean="0">
                <a:latin typeface="Tahoma" pitchFamily="34" charset="0"/>
                <a:cs typeface="Tahoma" pitchFamily="34" charset="0"/>
              </a:rPr>
              <a:t>Ternary operator	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(needs three operands)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Operator and Operand Introduction </a:t>
            </a:r>
          </a:p>
        </p:txBody>
      </p:sp>
      <p:sp>
        <p:nvSpPr>
          <p:cNvPr id="717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A792669-2084-43CA-ACBD-6888794A0728}" type="slidenum">
              <a:rPr lang="en-US">
                <a:latin typeface="Tahoma" pitchFamily="34" charset="0"/>
                <a:cs typeface="Tahoma" pitchFamily="34" charset="0"/>
              </a:rPr>
              <a:pPr/>
              <a:t>5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000" smtClean="0">
                <a:latin typeface="Tahoma" pitchFamily="34" charset="0"/>
                <a:cs typeface="Tahoma" pitchFamily="34" charset="0"/>
              </a:rPr>
              <a:t>Based on its operation type, </a:t>
            </a:r>
            <a:r>
              <a:rPr lang="en-US" sz="2000" b="1" smtClean="0">
                <a:latin typeface="Tahoma" pitchFamily="34" charset="0"/>
                <a:cs typeface="Tahoma" pitchFamily="34" charset="0"/>
              </a:rPr>
              <a:t>operator</a:t>
            </a:r>
            <a:r>
              <a:rPr lang="en-US" sz="2000" smtClean="0">
                <a:latin typeface="Tahoma" pitchFamily="34" charset="0"/>
                <a:cs typeface="Tahoma" pitchFamily="34" charset="0"/>
              </a:rPr>
              <a:t> can be grouped as:</a:t>
            </a:r>
            <a:endParaRPr lang="en-US" sz="2000" smtClean="0">
              <a:latin typeface="Tahoma" pitchFamily="34" charset="0"/>
              <a:cs typeface="Tahoma" pitchFamily="34" charset="0"/>
              <a:sym typeface="Symbol" pitchFamily="18" charset="2"/>
            </a:endParaRPr>
          </a:p>
          <a:p>
            <a:pPr lvl="1"/>
            <a:r>
              <a:rPr lang="en-US" smtClean="0">
                <a:latin typeface="Tahoma" pitchFamily="34" charset="0"/>
                <a:cs typeface="Tahoma" pitchFamily="34" charset="0"/>
              </a:rPr>
              <a:t>Assignment Operator</a:t>
            </a:r>
          </a:p>
          <a:p>
            <a:pPr lvl="1"/>
            <a:r>
              <a:rPr lang="en-US" smtClean="0">
                <a:latin typeface="Tahoma" pitchFamily="34" charset="0"/>
                <a:cs typeface="Tahoma" pitchFamily="34" charset="0"/>
              </a:rPr>
              <a:t>Logical Operator</a:t>
            </a:r>
            <a:endParaRPr lang="en-US" smtClean="0">
              <a:latin typeface="Tahoma" pitchFamily="34" charset="0"/>
              <a:cs typeface="Tahoma" pitchFamily="34" charset="0"/>
              <a:sym typeface="Symbol" pitchFamily="18" charset="2"/>
            </a:endParaRPr>
          </a:p>
          <a:p>
            <a:pPr lvl="1"/>
            <a:r>
              <a:rPr lang="en-US" smtClean="0">
                <a:latin typeface="Tahoma" pitchFamily="34" charset="0"/>
                <a:cs typeface="Tahoma" pitchFamily="34" charset="0"/>
              </a:rPr>
              <a:t>Arithmetic Operator</a:t>
            </a:r>
            <a:endParaRPr lang="en-US" smtClean="0">
              <a:latin typeface="Tahoma" pitchFamily="34" charset="0"/>
              <a:cs typeface="Tahoma" pitchFamily="34" charset="0"/>
              <a:sym typeface="Symbol" pitchFamily="18" charset="2"/>
            </a:endParaRPr>
          </a:p>
          <a:p>
            <a:pPr lvl="1"/>
            <a:r>
              <a:rPr lang="en-US" smtClean="0">
                <a:latin typeface="Tahoma" pitchFamily="34" charset="0"/>
                <a:cs typeface="Tahoma" pitchFamily="34" charset="0"/>
              </a:rPr>
              <a:t>Relational Operator</a:t>
            </a:r>
            <a:endParaRPr lang="en-US" smtClean="0">
              <a:latin typeface="Tahoma" pitchFamily="34" charset="0"/>
              <a:cs typeface="Tahoma" pitchFamily="34" charset="0"/>
              <a:sym typeface="Symbol" pitchFamily="18" charset="2"/>
            </a:endParaRPr>
          </a:p>
          <a:p>
            <a:pPr lvl="1"/>
            <a:r>
              <a:rPr lang="en-US" smtClean="0">
                <a:latin typeface="Tahoma" pitchFamily="34" charset="0"/>
                <a:cs typeface="Tahoma" pitchFamily="34" charset="0"/>
              </a:rPr>
              <a:t>Bitwise Operator</a:t>
            </a:r>
          </a:p>
          <a:p>
            <a:pPr lvl="1"/>
            <a:r>
              <a:rPr lang="en-US" smtClean="0">
                <a:latin typeface="Tahoma" pitchFamily="34" charset="0"/>
                <a:cs typeface="Tahoma" pitchFamily="34" charset="0"/>
              </a:rPr>
              <a:t>Pointer Operator</a:t>
            </a:r>
          </a:p>
          <a:p>
            <a:pPr lvl="1">
              <a:buFontTx/>
              <a:buNone/>
            </a:pPr>
            <a:endParaRPr lang="en-US" smtClean="0">
              <a:latin typeface="Tahoma" pitchFamily="34" charset="0"/>
              <a:cs typeface="Tahoma" pitchFamily="34" charset="0"/>
            </a:endParaRPr>
          </a:p>
          <a:p>
            <a:pPr lvl="1">
              <a:lnSpc>
                <a:spcPct val="90000"/>
              </a:lnSpc>
            </a:pPr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Assignment Operators</a:t>
            </a:r>
          </a:p>
        </p:txBody>
      </p:sp>
      <p:sp>
        <p:nvSpPr>
          <p:cNvPr id="819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A074A9-EB78-423A-9EA5-1255635AA405}" type="slidenum">
              <a:rPr lang="en-US">
                <a:latin typeface="Tahoma" pitchFamily="34" charset="0"/>
                <a:cs typeface="Tahoma" pitchFamily="34" charset="0"/>
              </a:rPr>
              <a:pPr/>
              <a:t>6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smtClean="0">
                <a:latin typeface="Tahoma" pitchFamily="34" charset="0"/>
                <a:cs typeface="Tahoma" pitchFamily="34" charset="0"/>
              </a:rPr>
              <a:t>A binary operator</a:t>
            </a:r>
          </a:p>
          <a:p>
            <a:pPr>
              <a:buFontTx/>
              <a:buNone/>
            </a:pPr>
            <a:endParaRPr lang="en-US" sz="2000" smtClean="0">
              <a:latin typeface="Tahoma" pitchFamily="34" charset="0"/>
              <a:cs typeface="Tahoma" pitchFamily="34" charset="0"/>
            </a:endParaRPr>
          </a:p>
          <a:p>
            <a:r>
              <a:rPr lang="en-US" sz="2000" smtClean="0">
                <a:latin typeface="Tahoma" pitchFamily="34" charset="0"/>
                <a:cs typeface="Tahoma" pitchFamily="34" charset="0"/>
              </a:rPr>
              <a:t>Used in assigning value to an operand</a:t>
            </a:r>
          </a:p>
          <a:p>
            <a:pPr>
              <a:buFontTx/>
              <a:buNone/>
            </a:pPr>
            <a:r>
              <a:rPr lang="en-US" sz="2000" smtClean="0">
                <a:latin typeface="Tahoma" pitchFamily="34" charset="0"/>
                <a:cs typeface="Tahoma" pitchFamily="34" charset="0"/>
              </a:rPr>
              <a:t>	Syntax:</a:t>
            </a:r>
          </a:p>
          <a:p>
            <a:pPr lvl="2">
              <a:buFontTx/>
              <a:buNone/>
            </a:pPr>
            <a:r>
              <a:rPr lang="en-US" sz="2000" b="1" smtClean="0">
                <a:latin typeface="Tahoma" pitchFamily="34" charset="0"/>
                <a:cs typeface="Tahoma" pitchFamily="34" charset="0"/>
              </a:rPr>
              <a:t>Operand1 = Operand2;</a:t>
            </a:r>
          </a:p>
          <a:p>
            <a:pPr lvl="2">
              <a:buFontTx/>
              <a:buNone/>
            </a:pPr>
            <a:endParaRPr lang="en-US" sz="2000" b="1" smtClean="0">
              <a:latin typeface="Tahoma" pitchFamily="34" charset="0"/>
              <a:cs typeface="Tahoma" pitchFamily="34" charset="0"/>
            </a:endParaRPr>
          </a:p>
          <a:p>
            <a:r>
              <a:rPr lang="en-US" sz="2000" smtClean="0">
                <a:latin typeface="Tahoma" pitchFamily="34" charset="0"/>
                <a:cs typeface="Tahoma" pitchFamily="34" charset="0"/>
              </a:rPr>
              <a:t>Left hand side operand (</a:t>
            </a:r>
            <a:r>
              <a:rPr lang="en-US" sz="2000" b="1" smtClean="0">
                <a:latin typeface="Tahoma" pitchFamily="34" charset="0"/>
                <a:cs typeface="Tahoma" pitchFamily="34" charset="0"/>
              </a:rPr>
              <a:t>Operand1</a:t>
            </a:r>
            <a:r>
              <a:rPr lang="en-US" sz="2000" smtClean="0">
                <a:latin typeface="Tahoma" pitchFamily="34" charset="0"/>
                <a:cs typeface="Tahoma" pitchFamily="34" charset="0"/>
              </a:rPr>
              <a:t>) should have (L-Value) such as variable</a:t>
            </a:r>
          </a:p>
          <a:p>
            <a:pPr>
              <a:buFontTx/>
              <a:buNone/>
            </a:pPr>
            <a:endParaRPr lang="en-US" sz="2000" smtClean="0">
              <a:latin typeface="Tahoma" pitchFamily="34" charset="0"/>
              <a:cs typeface="Tahoma" pitchFamily="34" charset="0"/>
            </a:endParaRPr>
          </a:p>
          <a:p>
            <a:r>
              <a:rPr lang="en-US" sz="2000" smtClean="0">
                <a:latin typeface="Tahoma" pitchFamily="34" charset="0"/>
                <a:cs typeface="Tahoma" pitchFamily="34" charset="0"/>
              </a:rPr>
              <a:t>Right hand side operand (</a:t>
            </a:r>
            <a:r>
              <a:rPr lang="en-US" sz="2000" b="1" smtClean="0">
                <a:latin typeface="Tahoma" pitchFamily="34" charset="0"/>
                <a:cs typeface="Tahoma" pitchFamily="34" charset="0"/>
              </a:rPr>
              <a:t>Operand2</a:t>
            </a:r>
            <a:r>
              <a:rPr lang="en-US" sz="2000" smtClean="0">
                <a:latin typeface="Tahoma" pitchFamily="34" charset="0"/>
                <a:cs typeface="Tahoma" pitchFamily="34" charset="0"/>
              </a:rPr>
              <a:t>) can be constant, another variable, expression or function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Assignment Operators</a:t>
            </a:r>
          </a:p>
        </p:txBody>
      </p:sp>
      <p:sp>
        <p:nvSpPr>
          <p:cNvPr id="921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86D22A-BD77-42A7-831B-DA35CF6923FB}" type="slidenum">
              <a:rPr lang="en-US">
                <a:latin typeface="Tahoma" pitchFamily="34" charset="0"/>
                <a:cs typeface="Tahoma" pitchFamily="34" charset="0"/>
              </a:rPr>
              <a:pPr/>
              <a:t>7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Tahoma" pitchFamily="34" charset="0"/>
                <a:cs typeface="Tahoma" pitchFamily="34" charset="0"/>
              </a:rPr>
              <a:t>Example:</a:t>
            </a:r>
          </a:p>
          <a:p>
            <a:pPr lvl="2">
              <a:buFontTx/>
              <a:buNone/>
            </a:pPr>
            <a:r>
              <a:rPr lang="en-US" sz="2000" dirty="0" smtClean="0">
                <a:latin typeface="Tahoma" pitchFamily="34" charset="0"/>
                <a:cs typeface="Tahoma" pitchFamily="34" charset="0"/>
              </a:rPr>
              <a:t>x = 2;			// constant</a:t>
            </a:r>
          </a:p>
          <a:p>
            <a:pPr lvl="2">
              <a:buFontTx/>
              <a:buNone/>
            </a:pPr>
            <a:r>
              <a:rPr lang="en-US" sz="2000" dirty="0" smtClean="0">
                <a:latin typeface="Tahoma" pitchFamily="34" charset="0"/>
                <a:cs typeface="Tahoma" pitchFamily="34" charset="0"/>
              </a:rPr>
              <a:t>x = y;			// other variable</a:t>
            </a:r>
          </a:p>
          <a:p>
            <a:pPr lvl="2">
              <a:buFontTx/>
              <a:buNone/>
            </a:pPr>
            <a:r>
              <a:rPr lang="en-US" sz="2000" dirty="0" smtClean="0">
                <a:latin typeface="Tahoma" pitchFamily="34" charset="0"/>
                <a:cs typeface="Tahoma" pitchFamily="34" charset="0"/>
              </a:rPr>
              <a:t>x = 2 * y;		// expression</a:t>
            </a:r>
          </a:p>
          <a:p>
            <a:pPr lvl="2">
              <a:buFontTx/>
              <a:buNone/>
            </a:pPr>
            <a:r>
              <a:rPr lang="en-US" sz="2000" dirty="0" smtClean="0">
                <a:latin typeface="Tahoma" pitchFamily="34" charset="0"/>
                <a:cs typeface="Tahoma" pitchFamily="34" charset="0"/>
              </a:rPr>
              <a:t>x = sin (y);		// function</a:t>
            </a:r>
          </a:p>
          <a:p>
            <a:pPr lvl="2"/>
            <a:endParaRPr lang="en-US" sz="2000" dirty="0" smtClean="0">
              <a:latin typeface="Tahoma" pitchFamily="34" charset="0"/>
              <a:cs typeface="Tahoma" pitchFamily="34" charset="0"/>
            </a:endParaRPr>
          </a:p>
          <a:p>
            <a:r>
              <a:rPr lang="en-US" sz="2000" dirty="0" smtClean="0">
                <a:latin typeface="Tahoma" pitchFamily="34" charset="0"/>
                <a:cs typeface="Tahoma" pitchFamily="34" charset="0"/>
              </a:rPr>
              <a:t>Type of the result will follow the left hand side operand</a:t>
            </a:r>
          </a:p>
          <a:p>
            <a:pPr lvl="2">
              <a:buFontTx/>
              <a:buNone/>
            </a:pPr>
            <a:r>
              <a:rPr lang="id-ID" sz="2000" b="1" dirty="0" smtClean="0">
                <a:latin typeface="Tahoma" pitchFamily="34" charset="0"/>
                <a:cs typeface="Tahoma" pitchFamily="34" charset="0"/>
              </a:rPr>
              <a:t>int</a:t>
            </a:r>
            <a:r>
              <a:rPr lang="id-ID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smtClean="0">
                <a:latin typeface="Tahoma" pitchFamily="34" charset="0"/>
                <a:cs typeface="Tahoma" pitchFamily="34" charset="0"/>
              </a:rPr>
              <a:t>x = 7/2;   	/*x value is 3 not 3.5*/</a:t>
            </a:r>
          </a:p>
          <a:p>
            <a:pPr lvl="2">
              <a:buFontTx/>
              <a:buNone/>
            </a:pPr>
            <a:r>
              <a:rPr lang="en-US" sz="2000" b="1" dirty="0" smtClean="0">
                <a:latin typeface="Tahoma" pitchFamily="34" charset="0"/>
                <a:cs typeface="Tahoma" pitchFamily="34" charset="0"/>
              </a:rPr>
              <a:t>float</a:t>
            </a:r>
            <a:r>
              <a:rPr lang="en-US" sz="2000" dirty="0" smtClean="0">
                <a:latin typeface="Tahoma" pitchFamily="34" charset="0"/>
                <a:cs typeface="Tahoma" pitchFamily="34" charset="0"/>
              </a:rPr>
              <a:t> y = 3;	/*y value is 3.000 */</a:t>
            </a:r>
          </a:p>
          <a:p>
            <a:endParaRPr lang="en-US" sz="2000" dirty="0" smtClean="0">
              <a:latin typeface="Tahoma" pitchFamily="34" charset="0"/>
              <a:cs typeface="Tahoma" pitchFamily="34" charset="0"/>
            </a:endParaRPr>
          </a:p>
          <a:p>
            <a:endParaRPr lang="en-US" sz="2000" dirty="0" smtClean="0">
              <a:latin typeface="Tahoma" pitchFamily="34" charset="0"/>
              <a:cs typeface="Tahoma" pitchFamily="34" charset="0"/>
            </a:endParaRPr>
          </a:p>
          <a:p>
            <a:endParaRPr lang="en-US" sz="2000" dirty="0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Arithmetic Operators </a:t>
            </a:r>
          </a:p>
        </p:txBody>
      </p:sp>
      <p:sp>
        <p:nvSpPr>
          <p:cNvPr id="1024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793E79-F383-4481-9303-C27B58DA6841}" type="slidenum">
              <a:rPr lang="en-US">
                <a:latin typeface="Tahoma" pitchFamily="34" charset="0"/>
                <a:cs typeface="Tahoma" pitchFamily="34" charset="0"/>
              </a:rPr>
              <a:pPr/>
              <a:t>8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graphicFrame>
        <p:nvGraphicFramePr>
          <p:cNvPr id="6" name="Group 46"/>
          <p:cNvGraphicFramePr>
            <a:graphicFrameLocks noGrp="1"/>
          </p:cNvGraphicFramePr>
          <p:nvPr/>
        </p:nvGraphicFramePr>
        <p:xfrm>
          <a:off x="1403648" y="2276872"/>
          <a:ext cx="6324600" cy="3778253"/>
        </p:xfrm>
        <a:graphic>
          <a:graphicData uri="http://schemas.openxmlformats.org/drawingml/2006/table">
            <a:tbl>
              <a:tblPr/>
              <a:tblGrid>
                <a:gridCol w="1357313"/>
                <a:gridCol w="2393950"/>
                <a:gridCol w="2573337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Symbol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Functionality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Example 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+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Addition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x = y + 6;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-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Subtraction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y = x – 5;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*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Multiply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y = y * 3;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5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/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Division 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z = x/y;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%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Modulo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= 10 % 3;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++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Increment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x++;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5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--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Decrement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z--;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()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Scope / Priority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x=(2+3)*5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Arithmetic Operators </a:t>
            </a:r>
          </a:p>
        </p:txBody>
      </p:sp>
      <p:sp>
        <p:nvSpPr>
          <p:cNvPr id="1126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76A43D-5820-4FF9-ABD2-84C79DC1F3A8}" type="slidenum">
              <a:rPr lang="en-US">
                <a:latin typeface="Tahoma" pitchFamily="34" charset="0"/>
                <a:cs typeface="Tahoma" pitchFamily="34" charset="0"/>
              </a:rPr>
              <a:pPr/>
              <a:t>9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1269" name="Rectangle 3"/>
          <p:cNvSpPr txBox="1">
            <a:spLocks noChangeArrowheads="1"/>
          </p:cNvSpPr>
          <p:nvPr/>
        </p:nvSpPr>
        <p:spPr bwMode="auto">
          <a:xfrm>
            <a:off x="827584" y="2007765"/>
            <a:ext cx="82296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3550" indent="-463550">
              <a:lnSpc>
                <a:spcPct val="80000"/>
              </a:lnSpc>
              <a:spcBef>
                <a:spcPts val="400"/>
              </a:spcBef>
              <a:buFont typeface="Arial" pitchFamily="34" charset="0"/>
              <a:buChar char="•"/>
            </a:pPr>
            <a:r>
              <a:rPr lang="en-US" sz="2000" b="1" dirty="0">
                <a:latin typeface="Tahoma" pitchFamily="34" charset="0"/>
                <a:cs typeface="Tahoma" pitchFamily="34" charset="0"/>
              </a:rPr>
              <a:t>Modulo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Symbol : %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Binary operator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To find </a:t>
            </a:r>
            <a:r>
              <a:rPr lang="en-US" sz="2000" dirty="0" smtClean="0">
                <a:latin typeface="Tahoma" pitchFamily="34" charset="0"/>
                <a:cs typeface="Tahoma" pitchFamily="34" charset="0"/>
              </a:rPr>
              <a:t>remainder 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of a division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N % 2, can be used to find an odd or even number</a:t>
            </a:r>
          </a:p>
          <a:p>
            <a:pPr marL="1201738" lvl="2" indent="-287338">
              <a:lnSpc>
                <a:spcPct val="80000"/>
              </a:lnSpc>
              <a:spcBef>
                <a:spcPts val="400"/>
              </a:spcBef>
              <a:buFont typeface="Wingdings" pitchFamily="2" charset="2"/>
              <a:buChar char="§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N % 2 = 0 </a:t>
            </a:r>
            <a:r>
              <a:rPr lang="en-US" sz="2000" dirty="0">
                <a:latin typeface="Tahoma" pitchFamily="34" charset="0"/>
                <a:cs typeface="Tahoma" pitchFamily="34" charset="0"/>
                <a:sym typeface="Symbol" pitchFamily="18" charset="2"/>
              </a:rPr>
              <a:t>  N is even</a:t>
            </a:r>
          </a:p>
          <a:p>
            <a:pPr marL="1201738" lvl="2" indent="-287338">
              <a:lnSpc>
                <a:spcPct val="80000"/>
              </a:lnSpc>
              <a:spcBef>
                <a:spcPts val="400"/>
              </a:spcBef>
              <a:buFont typeface="Wingdings" pitchFamily="2" charset="2"/>
              <a:buChar char="§"/>
            </a:pPr>
            <a:r>
              <a:rPr lang="en-US" sz="2000" dirty="0">
                <a:latin typeface="Tahoma" pitchFamily="34" charset="0"/>
                <a:cs typeface="Tahoma" pitchFamily="34" charset="0"/>
                <a:sym typeface="Symbol" pitchFamily="18" charset="2"/>
              </a:rPr>
              <a:t>N % 2 = 1   N is odd</a:t>
            </a:r>
          </a:p>
          <a:p>
            <a:pPr marL="1201738" lvl="2" indent="-287338">
              <a:lnSpc>
                <a:spcPct val="80000"/>
              </a:lnSpc>
              <a:spcBef>
                <a:spcPts val="400"/>
              </a:spcBef>
            </a:pPr>
            <a:endParaRPr lang="en-US" sz="2000" dirty="0">
              <a:latin typeface="Tahoma" pitchFamily="34" charset="0"/>
              <a:cs typeface="Tahoma" pitchFamily="34" charset="0"/>
              <a:sym typeface="Symbol" pitchFamily="18" charset="2"/>
            </a:endParaRPr>
          </a:p>
          <a:p>
            <a:pPr marL="463550" indent="-463550">
              <a:lnSpc>
                <a:spcPct val="80000"/>
              </a:lnSpc>
              <a:spcBef>
                <a:spcPts val="400"/>
              </a:spcBef>
              <a:buFont typeface="Arial" pitchFamily="34" charset="0"/>
              <a:buChar char="•"/>
            </a:pPr>
            <a:r>
              <a:rPr lang="en-US" sz="2000" b="1" dirty="0">
                <a:latin typeface="Tahoma" pitchFamily="34" charset="0"/>
                <a:cs typeface="Tahoma" pitchFamily="34" charset="0"/>
              </a:rPr>
              <a:t>Increment and Decrement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Symbol : ++(increment), --(decrement)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Unary operator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Increase (++) and decrease (--) the value of a variable by 1.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Its position can be in the front (pre) or after (post) a variable.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Arithmetic Operators </a:t>
            </a:r>
          </a:p>
        </p:txBody>
      </p:sp>
      <p:sp>
        <p:nvSpPr>
          <p:cNvPr id="1229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71DDE12-D26A-4FCE-B445-3E032F4BB6F4}" type="slidenum">
              <a:rPr lang="en-US">
                <a:latin typeface="Tahoma" pitchFamily="34" charset="0"/>
                <a:cs typeface="Tahoma" pitchFamily="34" charset="0"/>
              </a:rPr>
              <a:pPr/>
              <a:t>10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2293" name="Rectangle 3"/>
          <p:cNvSpPr txBox="1">
            <a:spLocks noChangeArrowheads="1"/>
          </p:cNvSpPr>
          <p:nvPr/>
        </p:nvSpPr>
        <p:spPr bwMode="auto">
          <a:xfrm>
            <a:off x="878904" y="1935757"/>
            <a:ext cx="786956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7338" indent="-287338">
              <a:buFont typeface="Arial" pitchFamily="34" charset="0"/>
              <a:buChar char="•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Example :</a:t>
            </a:r>
          </a:p>
          <a:p>
            <a:pPr marL="287338" indent="-287338"/>
            <a:endParaRPr lang="en-US" sz="2000" dirty="0">
              <a:latin typeface="Tahoma" pitchFamily="34" charset="0"/>
              <a:cs typeface="Tahoma" pitchFamily="34" charset="0"/>
            </a:endParaRPr>
          </a:p>
          <a:p>
            <a:pPr marL="1201738" lvl="3" indent="-287338"/>
            <a:r>
              <a:rPr lang="en-US" sz="2000" dirty="0">
                <a:latin typeface="Tahoma" pitchFamily="34" charset="0"/>
                <a:cs typeface="Tahoma" pitchFamily="34" charset="0"/>
              </a:rPr>
              <a:t>N++;  	// post increment</a:t>
            </a:r>
          </a:p>
          <a:p>
            <a:pPr marL="1201738" lvl="3" indent="-287338"/>
            <a:r>
              <a:rPr lang="en-US" sz="2000" dirty="0">
                <a:latin typeface="Tahoma" pitchFamily="34" charset="0"/>
                <a:cs typeface="Tahoma" pitchFamily="34" charset="0"/>
              </a:rPr>
              <a:t>++N;  	// pre increment</a:t>
            </a:r>
          </a:p>
          <a:p>
            <a:pPr marL="1201738" lvl="3" indent="-287338"/>
            <a:r>
              <a:rPr lang="en-US" sz="2000" dirty="0">
                <a:latin typeface="Tahoma" pitchFamily="34" charset="0"/>
                <a:cs typeface="Tahoma" pitchFamily="34" charset="0"/>
              </a:rPr>
              <a:t>N--;    	// post decrement</a:t>
            </a:r>
          </a:p>
          <a:p>
            <a:pPr marL="1201738" lvl="3" indent="-287338"/>
            <a:r>
              <a:rPr lang="en-US" sz="2000" dirty="0">
                <a:latin typeface="Tahoma" pitchFamily="34" charset="0"/>
                <a:cs typeface="Tahoma" pitchFamily="34" charset="0"/>
              </a:rPr>
              <a:t>--N;    	// pre decrement</a:t>
            </a:r>
          </a:p>
          <a:p>
            <a:pPr marL="1201738" lvl="3" indent="-287338"/>
            <a:endParaRPr lang="en-US" sz="2000" dirty="0">
              <a:latin typeface="Tahoma" pitchFamily="34" charset="0"/>
              <a:cs typeface="Tahoma" pitchFamily="34" charset="0"/>
            </a:endParaRPr>
          </a:p>
          <a:p>
            <a:pPr marL="287338" indent="-287338">
              <a:buFont typeface="Arial" pitchFamily="34" charset="0"/>
              <a:buChar char="•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a stand alone statement, </a:t>
            </a:r>
            <a:r>
              <a:rPr lang="en-US" sz="2000" b="1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N++; 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or </a:t>
            </a:r>
            <a:r>
              <a:rPr lang="en-US" sz="2000" b="1" dirty="0">
                <a:latin typeface="Courier New" pitchFamily="49" charset="0"/>
                <a:cs typeface="Tahoma" pitchFamily="34" charset="0"/>
              </a:rPr>
              <a:t>++N;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equal to </a:t>
            </a:r>
            <a:r>
              <a:rPr lang="en-US" sz="2000" b="1" dirty="0">
                <a:latin typeface="Courier New" pitchFamily="49" charset="0"/>
                <a:cs typeface="Tahoma" pitchFamily="34" charset="0"/>
              </a:rPr>
              <a:t>N=N+1;</a:t>
            </a:r>
          </a:p>
          <a:p>
            <a:pPr marL="287338" indent="-287338"/>
            <a:endParaRPr lang="en-US" sz="2000" dirty="0">
              <a:latin typeface="Tahoma" pitchFamily="34" charset="0"/>
              <a:cs typeface="Tahoma" pitchFamily="34" charset="0"/>
            </a:endParaRPr>
          </a:p>
          <a:p>
            <a:pPr marL="287338" indent="-287338">
              <a:buFont typeface="Arial" pitchFamily="34" charset="0"/>
              <a:buChar char="•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a stand alone statement, </a:t>
            </a:r>
            <a:r>
              <a:rPr lang="en-US" sz="2000" b="1" dirty="0">
                <a:latin typeface="Courier New" pitchFamily="49" charset="0"/>
                <a:cs typeface="Tahoma" pitchFamily="34" charset="0"/>
              </a:rPr>
              <a:t>N--; 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or </a:t>
            </a:r>
            <a:r>
              <a:rPr lang="en-US" sz="2000" b="1" dirty="0">
                <a:latin typeface="Courier New" pitchFamily="49" charset="0"/>
                <a:cs typeface="Tahoma" pitchFamily="34" charset="0"/>
              </a:rPr>
              <a:t>--N; 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equal to </a:t>
            </a:r>
            <a:r>
              <a:rPr lang="en-US" sz="2000" b="1" dirty="0">
                <a:latin typeface="Courier New" pitchFamily="49" charset="0"/>
                <a:cs typeface="Tahoma" pitchFamily="34" charset="0"/>
              </a:rPr>
              <a:t>N=N-1;</a:t>
            </a:r>
          </a:p>
          <a:p>
            <a:pPr marL="287338" indent="-287338">
              <a:buFont typeface="Arial" pitchFamily="34" charset="0"/>
              <a:buChar char="•"/>
            </a:pPr>
            <a:endParaRPr lang="en-US" sz="20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Arithmetic Operators </a:t>
            </a:r>
          </a:p>
        </p:txBody>
      </p:sp>
      <p:sp>
        <p:nvSpPr>
          <p:cNvPr id="1331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575939-DD4D-427A-B2EE-4B3C67CDADD2}" type="slidenum">
              <a:rPr lang="en-US">
                <a:latin typeface="Tahoma" pitchFamily="34" charset="0"/>
                <a:cs typeface="Tahoma" pitchFamily="34" charset="0"/>
              </a:rPr>
              <a:pPr/>
              <a:t>11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3317" name="Rectangle 3"/>
          <p:cNvSpPr txBox="1">
            <a:spLocks noChangeArrowheads="1"/>
          </p:cNvSpPr>
          <p:nvPr/>
        </p:nvSpPr>
        <p:spPr bwMode="auto">
          <a:xfrm>
            <a:off x="914400" y="1988840"/>
            <a:ext cx="82296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7338" indent="-287338">
              <a:buFont typeface="Arial" pitchFamily="34" charset="0"/>
              <a:buChar char="•"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Example:</a:t>
            </a:r>
          </a:p>
          <a:p>
            <a:pPr marL="287338" indent="-287338"/>
            <a:endParaRPr lang="en-US" sz="2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3318" name="Text Box 4"/>
          <p:cNvSpPr txBox="1">
            <a:spLocks noChangeArrowheads="1"/>
          </p:cNvSpPr>
          <p:nvPr/>
        </p:nvSpPr>
        <p:spPr bwMode="auto">
          <a:xfrm>
            <a:off x="1115616" y="2492896"/>
            <a:ext cx="7543800" cy="2586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id-ID" sz="1800" dirty="0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r>
              <a:rPr lang="id-ID" sz="1800" dirty="0">
                <a:latin typeface="Courier New" pitchFamily="49" charset="0"/>
                <a:cs typeface="Courier New" pitchFamily="49" charset="0"/>
              </a:rPr>
              <a:t>int main () </a:t>
            </a:r>
          </a:p>
          <a:p>
            <a:r>
              <a:rPr lang="id-ID" sz="18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id-ID" sz="1800" dirty="0">
                <a:latin typeface="Courier New" pitchFamily="49" charset="0"/>
                <a:cs typeface="Courier New" pitchFamily="49" charset="0"/>
              </a:rPr>
              <a:t>     	int x = 44;  int y = 44;</a:t>
            </a:r>
          </a:p>
          <a:p>
            <a:r>
              <a:rPr lang="id-ID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sz="1800" b="1" dirty="0">
                <a:latin typeface="Courier New" pitchFamily="49" charset="0"/>
                <a:cs typeface="Courier New" pitchFamily="49" charset="0"/>
              </a:rPr>
              <a:t>++x;</a:t>
            </a:r>
          </a:p>
          <a:p>
            <a:r>
              <a:rPr lang="id-ID" sz="1800" dirty="0">
                <a:latin typeface="Courier New" pitchFamily="49" charset="0"/>
                <a:cs typeface="Courier New" pitchFamily="49" charset="0"/>
              </a:rPr>
              <a:t>     	printf(”x = %d\n”, x);	/* result 45 */</a:t>
            </a:r>
          </a:p>
          <a:p>
            <a:r>
              <a:rPr lang="id-ID" sz="1800" dirty="0">
                <a:latin typeface="Courier New" pitchFamily="49" charset="0"/>
                <a:cs typeface="Courier New" pitchFamily="49" charset="0"/>
              </a:rPr>
              <a:t>     	</a:t>
            </a:r>
            <a:r>
              <a:rPr lang="id-ID" sz="1800" b="1" dirty="0">
                <a:latin typeface="Courier New" pitchFamily="49" charset="0"/>
                <a:cs typeface="Courier New" pitchFamily="49" charset="0"/>
              </a:rPr>
              <a:t>y++;</a:t>
            </a:r>
          </a:p>
          <a:p>
            <a:r>
              <a:rPr lang="id-ID" sz="1800" dirty="0">
                <a:latin typeface="Courier New" pitchFamily="49" charset="0"/>
                <a:cs typeface="Courier New" pitchFamily="49" charset="0"/>
              </a:rPr>
              <a:t>     	printf(”y = %d\n”, y); 	/* result 45 */</a:t>
            </a:r>
          </a:p>
          <a:p>
            <a:r>
              <a:rPr lang="id-ID" sz="18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Arithmetic Operators </a:t>
            </a:r>
          </a:p>
        </p:txBody>
      </p:sp>
      <p:sp>
        <p:nvSpPr>
          <p:cNvPr id="1433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67BD8C-75A7-41BA-85BC-BC2ACFC62CBF}" type="slidenum">
              <a:rPr lang="en-US">
                <a:latin typeface="Tahoma" pitchFamily="34" charset="0"/>
                <a:cs typeface="Tahoma" pitchFamily="34" charset="0"/>
              </a:rPr>
              <a:pPr/>
              <a:t>12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4341" name="Rectangle 3"/>
          <p:cNvSpPr txBox="1">
            <a:spLocks noChangeArrowheads="1"/>
          </p:cNvSpPr>
          <p:nvPr/>
        </p:nvSpPr>
        <p:spPr bwMode="auto">
          <a:xfrm>
            <a:off x="899592" y="2204864"/>
            <a:ext cx="76200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95288" indent="-395288">
              <a:buFont typeface="Arial" pitchFamily="34" charset="0"/>
              <a:buChar char="•"/>
            </a:pPr>
            <a:r>
              <a:rPr lang="en-US" sz="2000" dirty="0"/>
              <a:t>If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++n </a:t>
            </a:r>
            <a:r>
              <a:rPr lang="en-US" sz="2000" dirty="0"/>
              <a:t>and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n++ </a:t>
            </a:r>
            <a:r>
              <a:rPr lang="en-US" sz="2000" dirty="0"/>
              <a:t>as a bounded statement (sub expression), then both of them have a different meaning</a:t>
            </a:r>
          </a:p>
          <a:p>
            <a:pPr marL="395288" indent="-395288"/>
            <a:endParaRPr lang="en-US" sz="2000" dirty="0"/>
          </a:p>
          <a:p>
            <a:pPr marL="395288" indent="-395288">
              <a:buFont typeface="Arial" pitchFamily="34" charset="0"/>
              <a:buChar char="•"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++n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/>
              <a:t> n add by 1, then continue to process its expression</a:t>
            </a:r>
          </a:p>
          <a:p>
            <a:pPr marL="395288" indent="-395288"/>
            <a:endParaRPr lang="en-US" sz="2000" dirty="0"/>
          </a:p>
          <a:p>
            <a:pPr marL="395288" indent="-395288">
              <a:buFont typeface="Arial" pitchFamily="34" charset="0"/>
              <a:buChar char="•"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n++ </a:t>
            </a:r>
            <a:r>
              <a:rPr lang="en-US" sz="20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</a:t>
            </a:r>
            <a:r>
              <a:rPr lang="en-US" sz="2000" dirty="0"/>
              <a:t> process the expression initially, than add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dirty="0"/>
              <a:t> by 1</a:t>
            </a:r>
          </a:p>
        </p:txBody>
      </p:sp>
      <p:sp>
        <p:nvSpPr>
          <p:cNvPr id="14342" name="Text Box 4"/>
          <p:cNvSpPr txBox="1">
            <a:spLocks noChangeArrowheads="1"/>
          </p:cNvSpPr>
          <p:nvPr/>
        </p:nvSpPr>
        <p:spPr bwMode="auto">
          <a:xfrm>
            <a:off x="1043608" y="4725144"/>
            <a:ext cx="6629400" cy="1570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id-ID" sz="1600">
                <a:latin typeface="Courier New" pitchFamily="49" charset="0"/>
                <a:cs typeface="Courier New" pitchFamily="49" charset="0"/>
              </a:rPr>
              <a:t>int main () {</a:t>
            </a: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sz="1600">
                <a:latin typeface="Courier New" pitchFamily="49" charset="0"/>
                <a:cs typeface="Courier New" pitchFamily="49" charset="0"/>
              </a:rPr>
              <a:t>int x=44; int y = 44; int z;</a:t>
            </a: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sz="1600">
                <a:latin typeface="Courier New" pitchFamily="49" charset="0"/>
                <a:cs typeface="Courier New" pitchFamily="49" charset="0"/>
              </a:rPr>
              <a:t>z =  </a:t>
            </a:r>
            <a:r>
              <a:rPr lang="id-ID" sz="1600" b="1">
                <a:latin typeface="Courier New" pitchFamily="49" charset="0"/>
                <a:cs typeface="Courier New" pitchFamily="49" charset="0"/>
              </a:rPr>
              <a:t>++x</a:t>
            </a:r>
            <a:r>
              <a:rPr lang="id-ID" sz="1600">
                <a:latin typeface="Courier New" pitchFamily="49" charset="0"/>
                <a:cs typeface="Courier New" pitchFamily="49" charset="0"/>
              </a:rPr>
              <a:t>;	/* z, x </a:t>
            </a:r>
            <a:r>
              <a:rPr lang="en-US" sz="1600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sz="1600">
                <a:latin typeface="Courier New" pitchFamily="49" charset="0"/>
                <a:cs typeface="Courier New" pitchFamily="49" charset="0"/>
              </a:rPr>
              <a:t> 45 */</a:t>
            </a: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sz="1600">
                <a:latin typeface="Courier New" pitchFamily="49" charset="0"/>
                <a:cs typeface="Courier New" pitchFamily="49" charset="0"/>
              </a:rPr>
              <a:t>z =  </a:t>
            </a:r>
            <a:r>
              <a:rPr lang="id-ID" sz="1600" b="1">
                <a:latin typeface="Courier New" pitchFamily="49" charset="0"/>
                <a:cs typeface="Courier New" pitchFamily="49" charset="0"/>
              </a:rPr>
              <a:t>y++</a:t>
            </a:r>
            <a:r>
              <a:rPr lang="id-ID" sz="1600">
                <a:latin typeface="Courier New" pitchFamily="49" charset="0"/>
                <a:cs typeface="Courier New" pitchFamily="49" charset="0"/>
              </a:rPr>
              <a:t>;	/* z </a:t>
            </a:r>
            <a:r>
              <a:rPr lang="en-US" sz="1600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sz="1600">
                <a:latin typeface="Courier New" pitchFamily="49" charset="0"/>
                <a:cs typeface="Courier New" pitchFamily="49" charset="0"/>
              </a:rPr>
              <a:t> 44 </a:t>
            </a:r>
            <a:r>
              <a:rPr lang="en-US" sz="1600">
                <a:latin typeface="Courier New" pitchFamily="49" charset="0"/>
                <a:cs typeface="Courier New" pitchFamily="49" charset="0"/>
              </a:rPr>
              <a:t>an</a:t>
            </a:r>
            <a:r>
              <a:rPr lang="id-ID" sz="1600">
                <a:latin typeface="Courier New" pitchFamily="49" charset="0"/>
                <a:cs typeface="Courier New" pitchFamily="49" charset="0"/>
              </a:rPr>
              <a:t>d y </a:t>
            </a:r>
            <a:r>
              <a:rPr lang="en-US" sz="1600">
                <a:latin typeface="Courier New" pitchFamily="49" charset="0"/>
                <a:cs typeface="Courier New" pitchFamily="49" charset="0"/>
              </a:rPr>
              <a:t>is </a:t>
            </a:r>
            <a:r>
              <a:rPr lang="id-ID" sz="1600">
                <a:latin typeface="Courier New" pitchFamily="49" charset="0"/>
                <a:cs typeface="Courier New" pitchFamily="49" charset="0"/>
              </a:rPr>
              <a:t>45 */</a:t>
            </a:r>
            <a:endParaRPr lang="en-US" sz="1600">
              <a:latin typeface="Courier New" pitchFamily="49" charset="0"/>
              <a:cs typeface="Courier New" pitchFamily="49" charset="0"/>
            </a:endParaRP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sz="1600">
                <a:latin typeface="Courier New" pitchFamily="49" charset="0"/>
                <a:cs typeface="Courier New" pitchFamily="49" charset="0"/>
              </a:rPr>
              <a:t>return(0);</a:t>
            </a:r>
          </a:p>
          <a:p>
            <a:r>
              <a:rPr lang="id-ID" sz="160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Arithmetic Operators </a:t>
            </a:r>
          </a:p>
        </p:txBody>
      </p:sp>
      <p:sp>
        <p:nvSpPr>
          <p:cNvPr id="1536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F6A911-5D09-485F-BB28-C2F58227BFF3}" type="slidenum">
              <a:rPr lang="en-US">
                <a:latin typeface="Tahoma" pitchFamily="34" charset="0"/>
                <a:cs typeface="Tahoma" pitchFamily="34" charset="0"/>
              </a:rPr>
              <a:pPr/>
              <a:t>13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912440" y="1935758"/>
            <a:ext cx="7620000" cy="437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Every expression using the following form:</a:t>
            </a:r>
          </a:p>
          <a:p>
            <a:pPr lvl="2">
              <a:defRPr/>
            </a:pPr>
            <a:r>
              <a:rPr lang="en-US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&lt;Variable&gt; = &lt;Variable&gt; &lt;Operator&gt;&lt;Exp&gt;;</a:t>
            </a:r>
          </a:p>
          <a:p>
            <a:pPr marL="0" lvl="2">
              <a:defRPr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has similar meaning with:</a:t>
            </a:r>
          </a:p>
          <a:p>
            <a:pPr lvl="2">
              <a:defRPr/>
            </a:pPr>
            <a:r>
              <a:rPr lang="en-US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&lt;Variable&gt; &lt;Operator&gt; = &lt;Exp&gt;;</a:t>
            </a:r>
          </a:p>
          <a:p>
            <a:pPr>
              <a:defRPr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or also known as:</a:t>
            </a:r>
          </a:p>
          <a:p>
            <a:pPr>
              <a:defRPr/>
            </a:pPr>
            <a:r>
              <a:rPr lang="en-US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	Combined Operator</a:t>
            </a:r>
          </a:p>
        </p:txBody>
      </p:sp>
      <p:graphicFrame>
        <p:nvGraphicFramePr>
          <p:cNvPr id="9" name="Group 4"/>
          <p:cNvGraphicFramePr>
            <a:graphicFrameLocks noGrp="1"/>
          </p:cNvGraphicFramePr>
          <p:nvPr/>
        </p:nvGraphicFramePr>
        <p:xfrm>
          <a:off x="2209800" y="3892380"/>
          <a:ext cx="4572000" cy="2560956"/>
        </p:xfrm>
        <a:graphic>
          <a:graphicData uri="http://schemas.openxmlformats.org/drawingml/2006/table">
            <a:tbl>
              <a:tblPr/>
              <a:tblGrid>
                <a:gridCol w="2135188"/>
                <a:gridCol w="2436812"/>
              </a:tblGrid>
              <a:tr h="35083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Expression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Combined Operator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= a + b;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+= b;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= a – b;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-= b;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= a * b;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*= b;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= a / b;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/= b;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= a % b;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%= b;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= a ^ b ;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^= b;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Arithmetic Operators </a:t>
            </a:r>
          </a:p>
        </p:txBody>
      </p:sp>
      <p:sp>
        <p:nvSpPr>
          <p:cNvPr id="1638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FE895C-F328-4ACE-8006-560BF5919799}" type="slidenum">
              <a:rPr lang="en-US">
                <a:latin typeface="Tahoma" pitchFamily="34" charset="0"/>
                <a:cs typeface="Tahoma" pitchFamily="34" charset="0"/>
              </a:rPr>
              <a:pPr/>
              <a:t>14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6389" name="Rectangle 3"/>
          <p:cNvSpPr txBox="1">
            <a:spLocks noChangeArrowheads="1"/>
          </p:cNvSpPr>
          <p:nvPr/>
        </p:nvSpPr>
        <p:spPr bwMode="auto">
          <a:xfrm>
            <a:off x="912440" y="1947590"/>
            <a:ext cx="7620000" cy="284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638" indent="-1588"/>
            <a:r>
              <a:rPr lang="en-US" sz="2400" b="1" dirty="0">
                <a:latin typeface="Tahoma" pitchFamily="34" charset="0"/>
                <a:cs typeface="Tahoma" pitchFamily="34" charset="0"/>
              </a:rPr>
              <a:t>Example </a:t>
            </a:r>
            <a:r>
              <a:rPr lang="en-US" sz="2400" dirty="0">
                <a:latin typeface="Tahoma" pitchFamily="34" charset="0"/>
                <a:cs typeface="Tahoma" pitchFamily="34" charset="0"/>
              </a:rPr>
              <a:t>:</a:t>
            </a:r>
          </a:p>
          <a:p>
            <a:pPr marL="274638" indent="-1588"/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 marL="274638" indent="-1588"/>
            <a:r>
              <a:rPr lang="en-US" sz="2400" dirty="0">
                <a:latin typeface="Tahoma" pitchFamily="34" charset="0"/>
                <a:cs typeface="Tahoma" pitchFamily="34" charset="0"/>
              </a:rPr>
              <a:t>x *= y +1;  has similar meaning with:</a:t>
            </a:r>
          </a:p>
          <a:p>
            <a:pPr marL="736600" lvl="1" indent="-460375">
              <a:buFontTx/>
              <a:buAutoNum type="alphaUcPeriod"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x = x * (y + 1);</a:t>
            </a:r>
          </a:p>
          <a:p>
            <a:pPr marL="736600" lvl="1" indent="-460375">
              <a:buFontTx/>
              <a:buAutoNum type="alphaUcPeriod"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x = x * y + 1;</a:t>
            </a:r>
          </a:p>
          <a:p>
            <a:pPr marL="736600" lvl="1" indent="-460375">
              <a:buFontTx/>
              <a:buAutoNum type="alphaUcPeriod"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x = x + 1 * y;</a:t>
            </a:r>
          </a:p>
          <a:p>
            <a:pPr marL="736600" lvl="1" indent="-460375">
              <a:buFontTx/>
              <a:buAutoNum type="alphaUcPeriod"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x = (x + 1) * y;</a:t>
            </a:r>
          </a:p>
          <a:p>
            <a:pPr marL="736600" lvl="1" indent="-460375"/>
            <a:endParaRPr lang="en-US" sz="2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101080" y="4871119"/>
            <a:ext cx="4191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/>
            <a:r>
              <a:rPr lang="en-US" sz="2400" dirty="0">
                <a:latin typeface="Tahoma" pitchFamily="34" charset="0"/>
                <a:cs typeface="Tahoma" pitchFamily="34" charset="0"/>
              </a:rPr>
              <a:t>Answer: A</a:t>
            </a:r>
          </a:p>
          <a:p>
            <a:endParaRPr lang="id-ID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Relational Operators </a:t>
            </a:r>
          </a:p>
        </p:txBody>
      </p:sp>
      <p:sp>
        <p:nvSpPr>
          <p:cNvPr id="1741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0DF009E-5C49-468C-89FE-C1CDFFA3F70E}" type="slidenum">
              <a:rPr lang="en-US">
                <a:latin typeface="Tahoma" pitchFamily="34" charset="0"/>
                <a:cs typeface="Tahoma" pitchFamily="34" charset="0"/>
              </a:rPr>
              <a:pPr/>
              <a:t>15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7413" name="Rectangle 3"/>
          <p:cNvSpPr txBox="1">
            <a:spLocks noChangeArrowheads="1"/>
          </p:cNvSpPr>
          <p:nvPr/>
        </p:nvSpPr>
        <p:spPr bwMode="auto">
          <a:xfrm>
            <a:off x="912440" y="1863750"/>
            <a:ext cx="7620000" cy="437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dirty="0">
                <a:latin typeface="Tahoma" pitchFamily="34" charset="0"/>
                <a:cs typeface="Tahoma" pitchFamily="34" charset="0"/>
              </a:rPr>
              <a:t>Use to compare to values with TRUE or FALSE result</a:t>
            </a: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r>
              <a:rPr lang="en-US" sz="2000" dirty="0">
                <a:latin typeface="Tahoma" pitchFamily="34" charset="0"/>
                <a:cs typeface="Tahoma" pitchFamily="34" charset="0"/>
              </a:rPr>
              <a:t>FALSE in C language equals to the value of </a:t>
            </a:r>
            <a:r>
              <a:rPr lang="en-US" sz="2000" b="1" dirty="0">
                <a:latin typeface="Tahoma" pitchFamily="34" charset="0"/>
                <a:cs typeface="Tahoma" pitchFamily="34" charset="0"/>
              </a:rPr>
              <a:t>zero</a:t>
            </a:r>
          </a:p>
          <a:p>
            <a:r>
              <a:rPr lang="en-US" sz="2000" dirty="0">
                <a:latin typeface="Tahoma" pitchFamily="34" charset="0"/>
                <a:cs typeface="Tahoma" pitchFamily="34" charset="0"/>
              </a:rPr>
              <a:t>TRUE on the other hand not equal to zero</a:t>
            </a:r>
          </a:p>
          <a:p>
            <a:r>
              <a:rPr lang="en-US" sz="2000" dirty="0">
                <a:latin typeface="Tahoma" pitchFamily="34" charset="0"/>
                <a:cs typeface="Tahoma" pitchFamily="34" charset="0"/>
              </a:rPr>
              <a:t>TRUE set by a C program at run time equal to the value of </a:t>
            </a:r>
            <a:r>
              <a:rPr lang="en-US" sz="2000" b="1" dirty="0">
                <a:latin typeface="Tahoma" pitchFamily="34" charset="0"/>
                <a:cs typeface="Tahoma" pitchFamily="34" charset="0"/>
              </a:rPr>
              <a:t>one</a:t>
            </a: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</p:txBody>
      </p:sp>
      <p:graphicFrame>
        <p:nvGraphicFramePr>
          <p:cNvPr id="6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929340"/>
              </p:ext>
            </p:extLst>
          </p:nvPr>
        </p:nvGraphicFramePr>
        <p:xfrm>
          <a:off x="2438400" y="2511846"/>
          <a:ext cx="4191000" cy="2573338"/>
        </p:xfrm>
        <a:graphic>
          <a:graphicData uri="http://schemas.openxmlformats.org/drawingml/2006/table">
            <a:tbl>
              <a:tblPr/>
              <a:tblGrid>
                <a:gridCol w="966788"/>
                <a:gridCol w="3224212"/>
              </a:tblGrid>
              <a:tr h="3810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Symbol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Functionality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==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Equality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!=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Not equal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Less than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&gt;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Greater than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91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&lt;=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Less or equal than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&gt;=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Greater or equal than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?: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Conditional assignment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Relational Operators </a:t>
            </a:r>
          </a:p>
        </p:txBody>
      </p:sp>
      <p:sp>
        <p:nvSpPr>
          <p:cNvPr id="931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+mn-lt"/>
              </a:rPr>
              <a:t>T0016 - Algorithm and Programming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2FFB006-EB8A-4DE2-B644-8DE042D235AA}" type="slidenum">
              <a:rPr lang="en-US">
                <a:latin typeface="Tahoma" pitchFamily="34" charset="0"/>
                <a:cs typeface="Tahoma" pitchFamily="34" charset="0"/>
              </a:rPr>
              <a:pPr/>
              <a:t>16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8437" name="Rectangle 3"/>
          <p:cNvSpPr txBox="1">
            <a:spLocks noChangeArrowheads="1"/>
          </p:cNvSpPr>
          <p:nvPr/>
        </p:nvSpPr>
        <p:spPr bwMode="auto">
          <a:xfrm>
            <a:off x="1056456" y="1935757"/>
            <a:ext cx="76200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id-ID" sz="2000" dirty="0">
                <a:latin typeface="Tahoma" pitchFamily="34" charset="0"/>
                <a:cs typeface="Tahoma" pitchFamily="34" charset="0"/>
              </a:rPr>
              <a:t>Example:</a:t>
            </a:r>
          </a:p>
        </p:txBody>
      </p:sp>
      <p:sp>
        <p:nvSpPr>
          <p:cNvPr id="18438" name="Text Box 4"/>
          <p:cNvSpPr txBox="1">
            <a:spLocks noChangeArrowheads="1"/>
          </p:cNvSpPr>
          <p:nvPr/>
        </p:nvSpPr>
        <p:spPr bwMode="auto">
          <a:xfrm>
            <a:off x="1111696" y="2348880"/>
            <a:ext cx="7924800" cy="3046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#include&lt;stdio.h&gt;</a:t>
            </a:r>
          </a:p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      int x=5,y=6;</a:t>
            </a:r>
          </a:p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      if ( x </a:t>
            </a:r>
            <a:r>
              <a:rPr lang="id-ID" sz="1600" b="1" dirty="0">
                <a:latin typeface="Courier New" pitchFamily="49" charset="0"/>
                <a:cs typeface="Courier New" pitchFamily="49" charset="0"/>
              </a:rPr>
              <a:t>==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 y) printf("%d equal %d\n",x,y);</a:t>
            </a:r>
          </a:p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      if ( x </a:t>
            </a:r>
            <a:r>
              <a:rPr lang="id-ID" sz="1600" b="1" dirty="0">
                <a:latin typeface="Courier New" pitchFamily="49" charset="0"/>
                <a:cs typeface="Courier New" pitchFamily="49" charset="0"/>
              </a:rPr>
              <a:t>!=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 y) printf("%d not equal %d\n",x,y);</a:t>
            </a:r>
          </a:p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      if ( x </a:t>
            </a:r>
            <a:r>
              <a:rPr lang="id-ID" sz="16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 y) printf("%d less than %d\n",x,y);</a:t>
            </a:r>
          </a:p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      if ( x </a:t>
            </a:r>
            <a:r>
              <a:rPr lang="id-ID" sz="16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 y) printf("%d greater than %d\n",x,y);</a:t>
            </a:r>
          </a:p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      if ( x </a:t>
            </a:r>
            <a:r>
              <a:rPr lang="id-ID" sz="1600" b="1" dirty="0">
                <a:latin typeface="Courier New" pitchFamily="49" charset="0"/>
                <a:cs typeface="Courier New" pitchFamily="49" charset="0"/>
              </a:rPr>
              <a:t>&lt;=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 y) printf("%d less or equal than %d\n",x,y);</a:t>
            </a:r>
          </a:p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      if ( x </a:t>
            </a:r>
            <a:r>
              <a:rPr lang="id-ID" sz="1600" b="1" dirty="0">
                <a:latin typeface="Courier New" pitchFamily="49" charset="0"/>
                <a:cs typeface="Courier New" pitchFamily="49" charset="0"/>
              </a:rPr>
              <a:t>&gt;=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 y) printf("%d greater or equal than %d\n",x,y);</a:t>
            </a:r>
          </a:p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      return(0);</a:t>
            </a:r>
          </a:p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439" name="Text Box 4"/>
          <p:cNvSpPr txBox="1">
            <a:spLocks noChangeArrowheads="1"/>
          </p:cNvSpPr>
          <p:nvPr/>
        </p:nvSpPr>
        <p:spPr bwMode="auto">
          <a:xfrm>
            <a:off x="1111696" y="5407049"/>
            <a:ext cx="7924800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lvl="1"/>
            <a:r>
              <a:rPr lang="id-ID" sz="1600">
                <a:latin typeface="Courier New" pitchFamily="49" charset="0"/>
              </a:rPr>
              <a:t>int x;</a:t>
            </a:r>
          </a:p>
          <a:p>
            <a:pPr lvl="1"/>
            <a:r>
              <a:rPr lang="id-ID" sz="1600">
                <a:latin typeface="Courier New" pitchFamily="49" charset="0"/>
              </a:rPr>
              <a:t>x = (20 &gt; 10);	// x value 1</a:t>
            </a:r>
          </a:p>
          <a:p>
            <a:pPr lvl="1"/>
            <a:r>
              <a:rPr lang="id-ID" sz="1600">
                <a:latin typeface="Courier New" pitchFamily="49" charset="0"/>
              </a:rPr>
              <a:t>x = (20 == 10);	// x value 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Conditional Expressions</a:t>
            </a:r>
          </a:p>
        </p:txBody>
      </p:sp>
      <p:sp>
        <p:nvSpPr>
          <p:cNvPr id="1945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1B1E966-8F6B-477B-ACBD-3D914B1591FF}" type="slidenum">
              <a:rPr lang="en-US">
                <a:latin typeface="Tahoma" pitchFamily="34" charset="0"/>
                <a:cs typeface="Tahoma" pitchFamily="34" charset="0"/>
              </a:rPr>
              <a:pPr/>
              <a:t>17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9461" name="Rectangle 3"/>
          <p:cNvSpPr txBox="1">
            <a:spLocks noChangeArrowheads="1"/>
          </p:cNvSpPr>
          <p:nvPr/>
        </p:nvSpPr>
        <p:spPr bwMode="auto">
          <a:xfrm>
            <a:off x="984448" y="2007765"/>
            <a:ext cx="76200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95288" indent="-395288">
              <a:buFont typeface="Arial" pitchFamily="34" charset="0"/>
              <a:buChar char="•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Given the following statement:</a:t>
            </a:r>
          </a:p>
          <a:p>
            <a:pPr marL="852488" lvl="2" indent="-395288"/>
            <a:r>
              <a:rPr lang="en-US" sz="2000" dirty="0">
                <a:latin typeface="Tahoma" pitchFamily="34" charset="0"/>
                <a:cs typeface="Tahoma" pitchFamily="34" charset="0"/>
              </a:rPr>
              <a:t>	if(a &gt; b)  z = a;</a:t>
            </a:r>
          </a:p>
          <a:p>
            <a:pPr marL="852488" lvl="2" indent="-395288"/>
            <a:r>
              <a:rPr lang="en-US" sz="2000" dirty="0">
                <a:latin typeface="Tahoma" pitchFamily="34" charset="0"/>
                <a:cs typeface="Tahoma" pitchFamily="34" charset="0"/>
              </a:rPr>
              <a:t>	else z = b;</a:t>
            </a:r>
          </a:p>
          <a:p>
            <a:pPr marL="852488" lvl="2" indent="-395288"/>
            <a:endParaRPr lang="en-US" sz="2000" dirty="0">
              <a:latin typeface="Tahoma" pitchFamily="34" charset="0"/>
              <a:cs typeface="Tahoma" pitchFamily="34" charset="0"/>
            </a:endParaRPr>
          </a:p>
          <a:p>
            <a:pPr marL="395288" indent="-395288">
              <a:buFont typeface="Arial" pitchFamily="34" charset="0"/>
              <a:buChar char="•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The above statement can be reformed to a</a:t>
            </a:r>
            <a:r>
              <a:rPr lang="en-US" sz="2000" b="1" dirty="0">
                <a:latin typeface="Tahoma" pitchFamily="34" charset="0"/>
                <a:cs typeface="Tahoma" pitchFamily="34" charset="0"/>
              </a:rPr>
              <a:t> conditional expression</a:t>
            </a:r>
          </a:p>
          <a:p>
            <a:pPr marL="395288" indent="-395288">
              <a:buFont typeface="Arial" pitchFamily="34" charset="0"/>
              <a:buChar char="•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Conditional expression using </a:t>
            </a:r>
            <a:r>
              <a:rPr lang="en-US" sz="2000" b="1" dirty="0">
                <a:latin typeface="Tahoma" pitchFamily="34" charset="0"/>
                <a:cs typeface="Tahoma" pitchFamily="34" charset="0"/>
              </a:rPr>
              <a:t>ternary operator 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‘?’ and ‘:’</a:t>
            </a:r>
          </a:p>
          <a:p>
            <a:pPr marL="395288" indent="-395288"/>
            <a:endParaRPr lang="en-US" sz="2000" dirty="0">
              <a:latin typeface="Tahoma" pitchFamily="34" charset="0"/>
              <a:cs typeface="Tahoma" pitchFamily="34" charset="0"/>
            </a:endParaRPr>
          </a:p>
          <a:p>
            <a:pPr marL="395288" indent="-395288">
              <a:buFont typeface="Arial" pitchFamily="34" charset="0"/>
              <a:buChar char="•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Syntax : </a:t>
            </a:r>
          </a:p>
          <a:p>
            <a:pPr marL="395288" indent="-395288"/>
            <a:r>
              <a:rPr lang="en-US" sz="2000" b="1" dirty="0">
                <a:latin typeface="Tahoma" pitchFamily="34" charset="0"/>
                <a:cs typeface="Tahoma" pitchFamily="34" charset="0"/>
              </a:rPr>
              <a:t>		exp1 ? exp2 : exp3;</a:t>
            </a:r>
          </a:p>
          <a:p>
            <a:pPr marL="395288" indent="-395288">
              <a:buFont typeface="Arial" pitchFamily="34" charset="0"/>
              <a:buChar char="•"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Example  (similar meaning with the above statement):</a:t>
            </a:r>
          </a:p>
          <a:p>
            <a:pPr marL="395288" indent="-395288"/>
            <a:r>
              <a:rPr lang="en-US" sz="2000" dirty="0">
                <a:latin typeface="Tahoma" pitchFamily="34" charset="0"/>
                <a:cs typeface="Tahoma" pitchFamily="34" charset="0"/>
              </a:rPr>
              <a:t>		z = (a &gt; b) ? a : b;</a:t>
            </a:r>
          </a:p>
          <a:p>
            <a:pPr marL="395288" indent="-395288"/>
            <a:endParaRPr lang="id-ID" sz="20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Conditional Expressions</a:t>
            </a:r>
          </a:p>
        </p:txBody>
      </p:sp>
      <p:sp>
        <p:nvSpPr>
          <p:cNvPr id="2048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0689C5-6F50-498B-8593-F9B728EABB3B}" type="slidenum">
              <a:rPr lang="en-US">
                <a:latin typeface="Tahoma" pitchFamily="34" charset="0"/>
                <a:cs typeface="Tahoma" pitchFamily="34" charset="0"/>
              </a:rPr>
              <a:pPr/>
              <a:t>18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485" name="Rectangle 3"/>
          <p:cNvSpPr txBox="1">
            <a:spLocks noChangeArrowheads="1"/>
          </p:cNvSpPr>
          <p:nvPr/>
        </p:nvSpPr>
        <p:spPr bwMode="auto">
          <a:xfrm>
            <a:off x="899592" y="1772816"/>
            <a:ext cx="76200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dirty="0">
                <a:latin typeface="Tahoma" pitchFamily="34" charset="0"/>
                <a:cs typeface="Tahoma" pitchFamily="34" charset="0"/>
              </a:rPr>
              <a:t>Example:</a:t>
            </a:r>
            <a:endParaRPr lang="id-ID" sz="20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1475656" y="2132856"/>
            <a:ext cx="5943600" cy="1816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id-ID" sz="1600">
                <a:latin typeface="Courier New" pitchFamily="49" charset="0"/>
                <a:cs typeface="Courier New" pitchFamily="49" charset="0"/>
              </a:rPr>
              <a:t>int main () {</a:t>
            </a:r>
          </a:p>
          <a:p>
            <a:pPr lvl="1"/>
            <a:r>
              <a:rPr lang="id-ID" sz="1600">
                <a:latin typeface="Courier New" pitchFamily="49" charset="0"/>
                <a:cs typeface="Courier New" pitchFamily="49" charset="0"/>
              </a:rPr>
              <a:t>int code, discount=0;</a:t>
            </a:r>
          </a:p>
          <a:p>
            <a:pPr lvl="1"/>
            <a:r>
              <a:rPr lang="id-ID" sz="1600">
                <a:latin typeface="Courier New" pitchFamily="49" charset="0"/>
                <a:cs typeface="Courier New" pitchFamily="49" charset="0"/>
              </a:rPr>
              <a:t>code=1;</a:t>
            </a:r>
          </a:p>
          <a:p>
            <a:pPr lvl="1"/>
            <a:r>
              <a:rPr lang="id-ID" sz="1600">
                <a:latin typeface="Courier New" pitchFamily="49" charset="0"/>
                <a:cs typeface="Courier New" pitchFamily="49" charset="0"/>
              </a:rPr>
              <a:t>discount = </a:t>
            </a:r>
            <a:r>
              <a:rPr lang="id-ID" sz="1600" b="1">
                <a:latin typeface="Courier New" pitchFamily="49" charset="0"/>
                <a:cs typeface="Courier New" pitchFamily="49" charset="0"/>
              </a:rPr>
              <a:t>(code == 1) ? 30 : 10;</a:t>
            </a:r>
          </a:p>
          <a:p>
            <a:pPr lvl="1"/>
            <a:r>
              <a:rPr lang="id-ID" sz="1600">
                <a:latin typeface="Courier New" pitchFamily="49" charset="0"/>
                <a:cs typeface="Courier New" pitchFamily="49" charset="0"/>
              </a:rPr>
              <a:t>printf(” Item discount = %d \n”,discount);</a:t>
            </a:r>
          </a:p>
          <a:p>
            <a:pPr lvl="1"/>
            <a:r>
              <a:rPr lang="id-ID" sz="1600">
                <a:latin typeface="Courier New" pitchFamily="49" charset="0"/>
                <a:cs typeface="Courier New" pitchFamily="49" charset="0"/>
              </a:rPr>
              <a:t>return(0);</a:t>
            </a:r>
          </a:p>
          <a:p>
            <a:r>
              <a:rPr lang="id-ID" sz="160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0487" name="Text Box 5"/>
          <p:cNvSpPr txBox="1">
            <a:spLocks noChangeArrowheads="1"/>
          </p:cNvSpPr>
          <p:nvPr/>
        </p:nvSpPr>
        <p:spPr bwMode="auto">
          <a:xfrm>
            <a:off x="4078288" y="3961656"/>
            <a:ext cx="4953000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int main () {</a:t>
            </a:r>
          </a:p>
          <a:p>
            <a:pPr lvl="1"/>
            <a:r>
              <a:rPr lang="id-ID" sz="1600" dirty="0">
                <a:latin typeface="Courier New" pitchFamily="49" charset="0"/>
                <a:cs typeface="Courier New" pitchFamily="49" charset="0"/>
              </a:rPr>
              <a:t>	int bil, abs;</a:t>
            </a:r>
          </a:p>
          <a:p>
            <a:pPr lvl="1"/>
            <a:r>
              <a:rPr lang="id-ID" sz="1600" dirty="0">
                <a:latin typeface="Courier New" pitchFamily="49" charset="0"/>
                <a:cs typeface="Courier New" pitchFamily="49" charset="0"/>
              </a:rPr>
              <a:t>	bil = 50;</a:t>
            </a:r>
          </a:p>
          <a:p>
            <a:pPr lvl="1"/>
            <a:r>
              <a:rPr lang="id-ID" sz="1600" dirty="0">
                <a:latin typeface="Courier New" pitchFamily="49" charset="0"/>
                <a:cs typeface="Courier New" pitchFamily="49" charset="0"/>
              </a:rPr>
              <a:t>	abs = </a:t>
            </a:r>
            <a:r>
              <a:rPr lang="id-ID" sz="1600" b="1" dirty="0">
                <a:latin typeface="Courier New" pitchFamily="49" charset="0"/>
                <a:cs typeface="Courier New" pitchFamily="49" charset="0"/>
              </a:rPr>
              <a:t>(bil1 &gt; 0) ? bil : - bil;</a:t>
            </a:r>
          </a:p>
          <a:p>
            <a:pPr lvl="1"/>
            <a:r>
              <a:rPr lang="id-ID" sz="1600" dirty="0">
                <a:latin typeface="Courier New" pitchFamily="49" charset="0"/>
                <a:cs typeface="Courier New" pitchFamily="49" charset="0"/>
              </a:rPr>
              <a:t>	printf(“%d \n”,bil);</a:t>
            </a:r>
          </a:p>
          <a:p>
            <a:pPr lvl="1"/>
            <a:r>
              <a:rPr lang="id-ID" sz="1600" dirty="0">
                <a:latin typeface="Courier New" pitchFamily="49" charset="0"/>
                <a:cs typeface="Courier New" pitchFamily="49" charset="0"/>
              </a:rPr>
              <a:t>	bil = - 50;</a:t>
            </a:r>
          </a:p>
          <a:p>
            <a:pPr lvl="1"/>
            <a:r>
              <a:rPr lang="id-ID" sz="1600" dirty="0">
                <a:latin typeface="Courier New" pitchFamily="49" charset="0"/>
                <a:cs typeface="Courier New" pitchFamily="49" charset="0"/>
              </a:rPr>
              <a:t>	abs = </a:t>
            </a:r>
            <a:r>
              <a:rPr lang="id-ID" sz="1600" b="1" dirty="0">
                <a:latin typeface="Courier New" pitchFamily="49" charset="0"/>
                <a:cs typeface="Courier New" pitchFamily="49" charset="0"/>
              </a:rPr>
              <a:t>(bil1 &gt; 0) ? bil : - bil;</a:t>
            </a:r>
          </a:p>
          <a:p>
            <a:pPr lvl="1"/>
            <a:r>
              <a:rPr lang="id-ID" sz="1600" dirty="0">
                <a:latin typeface="Courier New" pitchFamily="49" charset="0"/>
                <a:cs typeface="Courier New" pitchFamily="49" charset="0"/>
              </a:rPr>
              <a:t>	printf(“%d \n”,bil);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sz="1600" dirty="0">
                <a:latin typeface="Courier New" pitchFamily="49" charset="0"/>
                <a:cs typeface="Courier New" pitchFamily="49" charset="0"/>
              </a:rPr>
              <a:t>return(0);</a:t>
            </a:r>
            <a:endParaRPr lang="id-ID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id-ID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Logical Operator</a:t>
            </a:r>
          </a:p>
        </p:txBody>
      </p:sp>
      <p:sp>
        <p:nvSpPr>
          <p:cNvPr id="2150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83AFEC-F143-40D0-8253-0E344943D14F}" type="slidenum">
              <a:rPr lang="en-US">
                <a:latin typeface="Tahoma" pitchFamily="34" charset="0"/>
                <a:cs typeface="Tahoma" pitchFamily="34" charset="0"/>
              </a:rPr>
              <a:pPr/>
              <a:t>19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1509" name="Rectangle 3"/>
          <p:cNvSpPr txBox="1">
            <a:spLocks noChangeArrowheads="1"/>
          </p:cNvSpPr>
          <p:nvPr/>
        </p:nvSpPr>
        <p:spPr bwMode="auto">
          <a:xfrm>
            <a:off x="899592" y="1916832"/>
            <a:ext cx="76200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dirty="0">
                <a:latin typeface="Tahoma" pitchFamily="34" charset="0"/>
                <a:cs typeface="Tahoma" pitchFamily="34" charset="0"/>
              </a:rPr>
              <a:t>Logical operator symbols:</a:t>
            </a: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r>
              <a:rPr lang="en-US" sz="2000" dirty="0">
                <a:latin typeface="Tahoma" pitchFamily="34" charset="0"/>
                <a:cs typeface="Tahoma" pitchFamily="34" charset="0"/>
              </a:rPr>
              <a:t>Logical operator truth table:</a:t>
            </a: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</p:txBody>
      </p:sp>
      <p:graphicFrame>
        <p:nvGraphicFramePr>
          <p:cNvPr id="8" name="Group 59"/>
          <p:cNvGraphicFramePr>
            <a:graphicFrameLocks noGrp="1"/>
          </p:cNvGraphicFramePr>
          <p:nvPr/>
        </p:nvGraphicFramePr>
        <p:xfrm>
          <a:off x="1979712" y="2348880"/>
          <a:ext cx="3200400" cy="134112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</a:tblGrid>
              <a:tr h="28892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Symbol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Functionality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&amp;&amp;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AND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||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OR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!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NOT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Group 21"/>
          <p:cNvGraphicFramePr>
            <a:graphicFrameLocks noGrp="1"/>
          </p:cNvGraphicFramePr>
          <p:nvPr/>
        </p:nvGraphicFramePr>
        <p:xfrm>
          <a:off x="1043608" y="4149080"/>
          <a:ext cx="7162800" cy="2127250"/>
        </p:xfrm>
        <a:graphic>
          <a:graphicData uri="http://schemas.openxmlformats.org/drawingml/2006/table">
            <a:tbl>
              <a:tblPr/>
              <a:tblGrid>
                <a:gridCol w="1277938"/>
                <a:gridCol w="1281112"/>
                <a:gridCol w="1277938"/>
                <a:gridCol w="1662112"/>
                <a:gridCol w="1663700"/>
              </a:tblGrid>
              <a:tr h="42545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B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!A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&amp;&amp; B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|| B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True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True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False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True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True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True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False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False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False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True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False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True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True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False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True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False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False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True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False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False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Logical Operators</a:t>
            </a:r>
          </a:p>
        </p:txBody>
      </p:sp>
      <p:sp>
        <p:nvSpPr>
          <p:cNvPr id="2253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D5F09C2-E0AA-4E07-A643-738BCA4E61EB}" type="slidenum">
              <a:rPr lang="en-US">
                <a:latin typeface="Tahoma" pitchFamily="34" charset="0"/>
                <a:cs typeface="Tahoma" pitchFamily="34" charset="0"/>
              </a:rPr>
              <a:pPr/>
              <a:t>20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2533" name="Rectangle 3"/>
          <p:cNvSpPr txBox="1">
            <a:spLocks noChangeArrowheads="1"/>
          </p:cNvSpPr>
          <p:nvPr/>
        </p:nvSpPr>
        <p:spPr bwMode="auto">
          <a:xfrm>
            <a:off x="971600" y="1988840"/>
            <a:ext cx="76200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dirty="0">
                <a:latin typeface="Tahoma" pitchFamily="34" charset="0"/>
                <a:cs typeface="Tahoma" pitchFamily="34" charset="0"/>
              </a:rPr>
              <a:t>Operand in Logical Operator is the operand with TRUE or FALSE value</a:t>
            </a:r>
          </a:p>
          <a:p>
            <a:endParaRPr lang="en-US" sz="2000" dirty="0">
              <a:latin typeface="Tahoma" pitchFamily="34" charset="0"/>
              <a:cs typeface="Tahoma" pitchFamily="34" charset="0"/>
            </a:endParaRPr>
          </a:p>
          <a:p>
            <a:r>
              <a:rPr lang="en-US" sz="2000" dirty="0">
                <a:latin typeface="Tahoma" pitchFamily="34" charset="0"/>
                <a:cs typeface="Tahoma" pitchFamily="34" charset="0"/>
              </a:rPr>
              <a:t>Example :</a:t>
            </a:r>
          </a:p>
          <a:p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x=5; </a:t>
            </a:r>
            <a:r>
              <a:rPr lang="en-US" sz="20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y=0;</a:t>
            </a:r>
          </a:p>
          <a:p>
            <a:pPr lvl="1"/>
            <a:r>
              <a:rPr lang="en-US" sz="20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	x &amp;&amp; y;  	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		// FALSE</a:t>
            </a:r>
          </a:p>
          <a:p>
            <a:pPr lvl="1"/>
            <a:r>
              <a:rPr lang="en-US" sz="2000" dirty="0">
                <a:latin typeface="Courier New" pitchFamily="49" charset="0"/>
                <a:cs typeface="Tahoma" pitchFamily="34" charset="0"/>
              </a:rPr>
              <a:t>	(x &gt; y) &amp;&amp; (y&gt;=0);	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// TRUE</a:t>
            </a:r>
          </a:p>
          <a:p>
            <a:pPr lvl="1"/>
            <a:endParaRPr lang="en-US" sz="20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Bitwise Operators</a:t>
            </a:r>
          </a:p>
        </p:txBody>
      </p:sp>
      <p:sp>
        <p:nvSpPr>
          <p:cNvPr id="2355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4A7C645-99A1-430B-8CCD-9DA6CF479BD5}" type="slidenum">
              <a:rPr lang="en-US">
                <a:latin typeface="Tahoma" pitchFamily="34" charset="0"/>
                <a:cs typeface="Tahoma" pitchFamily="34" charset="0"/>
              </a:rPr>
              <a:pPr/>
              <a:t>21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3557" name="Rectangle 3"/>
          <p:cNvSpPr txBox="1">
            <a:spLocks noChangeArrowheads="1"/>
          </p:cNvSpPr>
          <p:nvPr/>
        </p:nvSpPr>
        <p:spPr bwMode="auto">
          <a:xfrm>
            <a:off x="762000" y="1524000"/>
            <a:ext cx="76200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1"/>
            <a:endParaRPr lang="id-ID" sz="2000">
              <a:latin typeface="Tahoma" pitchFamily="34" charset="0"/>
              <a:cs typeface="Tahoma" pitchFamily="34" charset="0"/>
            </a:endParaRPr>
          </a:p>
        </p:txBody>
      </p:sp>
      <p:graphicFrame>
        <p:nvGraphicFramePr>
          <p:cNvPr id="6" name="Group 37"/>
          <p:cNvGraphicFramePr>
            <a:graphicFrameLocks noGrp="1"/>
          </p:cNvGraphicFramePr>
          <p:nvPr/>
        </p:nvGraphicFramePr>
        <p:xfrm>
          <a:off x="1043608" y="2132856"/>
          <a:ext cx="7620000" cy="3892550"/>
        </p:xfrm>
        <a:graphic>
          <a:graphicData uri="http://schemas.openxmlformats.org/drawingml/2006/table">
            <a:tbl>
              <a:tblPr/>
              <a:tblGrid>
                <a:gridCol w="1622425"/>
                <a:gridCol w="2897188"/>
                <a:gridCol w="3100387"/>
              </a:tblGrid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Symbol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Meaning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Example 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&amp;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AND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&amp; B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|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OR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| B;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^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XOR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^ B;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~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Complement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~A;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&gt;&gt;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Shift Right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 &gt;&gt; 3;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&lt;&lt;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Shift Left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B &lt;&lt; 2;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Bitwise Operators</a:t>
            </a:r>
          </a:p>
        </p:txBody>
      </p:sp>
      <p:sp>
        <p:nvSpPr>
          <p:cNvPr id="2457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3F1BC8-2C8B-4EB1-8147-995E3DD0C137}" type="slidenum">
              <a:rPr lang="en-US">
                <a:latin typeface="Tahoma" pitchFamily="34" charset="0"/>
                <a:cs typeface="Tahoma" pitchFamily="34" charset="0"/>
              </a:rPr>
              <a:pPr/>
              <a:t>22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4581" name="Rectangle 3"/>
          <p:cNvSpPr txBox="1">
            <a:spLocks noChangeArrowheads="1"/>
          </p:cNvSpPr>
          <p:nvPr/>
        </p:nvSpPr>
        <p:spPr bwMode="auto">
          <a:xfrm>
            <a:off x="895672" y="1935757"/>
            <a:ext cx="79248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400" b="1" dirty="0">
                <a:latin typeface="Tahoma" pitchFamily="34" charset="0"/>
                <a:cs typeface="Tahoma" pitchFamily="34" charset="0"/>
              </a:rPr>
              <a:t>BIT BY BIT OPERATION</a:t>
            </a:r>
          </a:p>
          <a:p>
            <a:endParaRPr lang="en-US" sz="2400" b="1" dirty="0">
              <a:latin typeface="Tahoma" pitchFamily="34" charset="0"/>
              <a:cs typeface="Tahoma" pitchFamily="34" charset="0"/>
            </a:endParaRPr>
          </a:p>
          <a:p>
            <a:r>
              <a:rPr lang="en-US" sz="2400" b="1" dirty="0">
                <a:latin typeface="Tahoma" pitchFamily="34" charset="0"/>
                <a:cs typeface="Tahoma" pitchFamily="34" charset="0"/>
              </a:rPr>
              <a:t>Example:</a:t>
            </a:r>
          </a:p>
          <a:p>
            <a:pPr lvl="1"/>
            <a:r>
              <a:rPr lang="id-ID" sz="2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int A=24; int B=35; int C;</a:t>
            </a:r>
          </a:p>
          <a:p>
            <a:pPr lvl="1"/>
            <a:r>
              <a:rPr lang="id-ID" sz="2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C = A &amp; B;  	// value C = 0</a:t>
            </a:r>
          </a:p>
          <a:p>
            <a:pPr lvl="1"/>
            <a:r>
              <a:rPr lang="en-US" sz="2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C = A | B;   	// value C = 59</a:t>
            </a:r>
          </a:p>
          <a:p>
            <a:pPr lvl="1"/>
            <a:r>
              <a:rPr lang="en-US" sz="2400" b="1" dirty="0">
                <a:latin typeface="Tahoma" pitchFamily="34" charset="0"/>
                <a:cs typeface="Tahoma" pitchFamily="34" charset="0"/>
              </a:rPr>
              <a:t>Note:</a:t>
            </a:r>
          </a:p>
          <a:p>
            <a:r>
              <a:rPr lang="en-US" sz="2400" dirty="0">
                <a:latin typeface="Tahoma" pitchFamily="34" charset="0"/>
                <a:cs typeface="Tahoma" pitchFamily="34" charset="0"/>
              </a:rPr>
              <a:t>A=24 binary: 011000</a:t>
            </a:r>
          </a:p>
          <a:p>
            <a:r>
              <a:rPr lang="en-US" sz="2400" dirty="0">
                <a:latin typeface="Tahoma" pitchFamily="34" charset="0"/>
                <a:cs typeface="Tahoma" pitchFamily="34" charset="0"/>
              </a:rPr>
              <a:t>B=35 binary: 100011</a:t>
            </a:r>
          </a:p>
          <a:p>
            <a:r>
              <a:rPr lang="en-US" sz="2400" dirty="0">
                <a:latin typeface="Tahoma" pitchFamily="34" charset="0"/>
                <a:cs typeface="Tahoma" pitchFamily="34" charset="0"/>
              </a:rPr>
              <a:t>Bit by bit AND operation resulting: 000000, in decimal: 0</a:t>
            </a:r>
          </a:p>
          <a:p>
            <a:r>
              <a:rPr lang="en-US" sz="2400" dirty="0">
                <a:latin typeface="Tahoma" pitchFamily="34" charset="0"/>
                <a:cs typeface="Tahoma" pitchFamily="34" charset="0"/>
              </a:rPr>
              <a:t>Bit by bit OR operation resulting : 111011, in decimal: 59</a:t>
            </a:r>
          </a:p>
          <a:p>
            <a:pPr lvl="1"/>
            <a:endParaRPr lang="en-US" sz="2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Bitwise Operators</a:t>
            </a:r>
          </a:p>
        </p:txBody>
      </p:sp>
      <p:sp>
        <p:nvSpPr>
          <p:cNvPr id="2560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A77B283-8301-45B1-9F25-8F89E2724AEE}" type="slidenum">
              <a:rPr lang="en-US">
                <a:latin typeface="Tahoma" pitchFamily="34" charset="0"/>
                <a:cs typeface="Tahoma" pitchFamily="34" charset="0"/>
              </a:rPr>
              <a:pPr/>
              <a:t>23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5605" name="Rectangle 3"/>
          <p:cNvSpPr txBox="1">
            <a:spLocks noChangeArrowheads="1"/>
          </p:cNvSpPr>
          <p:nvPr/>
        </p:nvSpPr>
        <p:spPr bwMode="auto">
          <a:xfrm>
            <a:off x="971600" y="1988840"/>
            <a:ext cx="7924800" cy="437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400" dirty="0">
                <a:latin typeface="Tahoma" pitchFamily="34" charset="0"/>
                <a:cs typeface="Tahoma" pitchFamily="34" charset="0"/>
              </a:rPr>
              <a:t>XOR operation of two bits resulting 1 if both bit are differ, and will result 0 if both are analogous.</a:t>
            </a:r>
          </a:p>
          <a:p>
            <a:endParaRPr lang="en-US" sz="2400" dirty="0">
              <a:latin typeface="Tahoma" pitchFamily="34" charset="0"/>
              <a:cs typeface="Tahoma" pitchFamily="34" charset="0"/>
            </a:endParaRPr>
          </a:p>
          <a:p>
            <a:r>
              <a:rPr lang="en-US" sz="2400" b="1" dirty="0">
                <a:latin typeface="Tahoma" pitchFamily="34" charset="0"/>
                <a:cs typeface="Tahoma" pitchFamily="34" charset="0"/>
              </a:rPr>
              <a:t>Example:</a:t>
            </a:r>
          </a:p>
          <a:p>
            <a:pPr lvl="1"/>
            <a:r>
              <a:rPr lang="id-ID" sz="2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int A,B=45;</a:t>
            </a:r>
          </a:p>
          <a:p>
            <a:pPr lvl="1"/>
            <a:r>
              <a:rPr lang="id-ID" sz="2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A = B^75;   	// Result A=102</a:t>
            </a:r>
          </a:p>
          <a:p>
            <a:pPr lvl="1"/>
            <a:endParaRPr lang="en-US" sz="2400" b="1" dirty="0">
              <a:latin typeface="Tahoma" pitchFamily="34" charset="0"/>
              <a:cs typeface="Tahoma" pitchFamily="34" charset="0"/>
            </a:endParaRPr>
          </a:p>
          <a:p>
            <a:pPr lvl="1"/>
            <a:r>
              <a:rPr lang="en-US" sz="2400" b="1" dirty="0">
                <a:latin typeface="Tahoma" pitchFamily="34" charset="0"/>
                <a:cs typeface="Tahoma" pitchFamily="34" charset="0"/>
              </a:rPr>
              <a:t>Note:</a:t>
            </a:r>
          </a:p>
          <a:p>
            <a:r>
              <a:rPr lang="en-US" sz="2400" dirty="0">
                <a:latin typeface="Tahoma" pitchFamily="34" charset="0"/>
                <a:cs typeface="Tahoma" pitchFamily="34" charset="0"/>
              </a:rPr>
              <a:t>Decimal 45 binary: 0101101</a:t>
            </a:r>
          </a:p>
          <a:p>
            <a:r>
              <a:rPr lang="en-US" sz="2400" dirty="0">
                <a:latin typeface="Tahoma" pitchFamily="34" charset="0"/>
                <a:cs typeface="Tahoma" pitchFamily="34" charset="0"/>
              </a:rPr>
              <a:t>Decimal 75 binary: 1001011</a:t>
            </a:r>
          </a:p>
          <a:p>
            <a:r>
              <a:rPr lang="en-US" sz="2400" dirty="0">
                <a:latin typeface="Tahoma" pitchFamily="34" charset="0"/>
                <a:cs typeface="Tahoma" pitchFamily="34" charset="0"/>
              </a:rPr>
              <a:t>bit by bit XOR will result in : 1100110 or 102 in decimal</a:t>
            </a:r>
          </a:p>
          <a:p>
            <a:pPr lvl="1"/>
            <a:endParaRPr lang="en-US" sz="2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Bitwise Operators</a:t>
            </a:r>
          </a:p>
        </p:txBody>
      </p:sp>
      <p:sp>
        <p:nvSpPr>
          <p:cNvPr id="2662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2AE166-9636-4D88-98BC-207BFA7EAEDA}" type="slidenum">
              <a:rPr lang="en-US">
                <a:latin typeface="Tahoma" pitchFamily="34" charset="0"/>
                <a:cs typeface="Tahoma" pitchFamily="34" charset="0"/>
              </a:rPr>
              <a:pPr/>
              <a:t>24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6629" name="Rectangle 3"/>
          <p:cNvSpPr txBox="1">
            <a:spLocks noChangeArrowheads="1"/>
          </p:cNvSpPr>
          <p:nvPr/>
        </p:nvSpPr>
        <p:spPr bwMode="auto">
          <a:xfrm>
            <a:off x="899592" y="2060848"/>
            <a:ext cx="7924800" cy="437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400" dirty="0">
                <a:latin typeface="Tahoma" pitchFamily="34" charset="0"/>
                <a:cs typeface="Tahoma" pitchFamily="34" charset="0"/>
              </a:rPr>
              <a:t>To create a complement-1 value, then every bit with 0 value exchange to 1 and vice versa.</a:t>
            </a:r>
          </a:p>
          <a:p>
            <a:r>
              <a:rPr lang="en-US" sz="2400" b="1" dirty="0">
                <a:latin typeface="Tahoma" pitchFamily="34" charset="0"/>
                <a:cs typeface="Tahoma" pitchFamily="34" charset="0"/>
              </a:rPr>
              <a:t>Example:</a:t>
            </a:r>
          </a:p>
          <a:p>
            <a:pPr lvl="1"/>
            <a:r>
              <a:rPr lang="id-ID" sz="2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int A, B=0xC3;</a:t>
            </a:r>
          </a:p>
          <a:p>
            <a:pPr lvl="1"/>
            <a:r>
              <a:rPr lang="id-ID" sz="2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A=~B;  		//value A=0x3C;</a:t>
            </a:r>
          </a:p>
          <a:p>
            <a:pPr lvl="1"/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 lvl="1"/>
            <a:r>
              <a:rPr lang="en-US" sz="2400" b="1" dirty="0">
                <a:latin typeface="Tahoma" pitchFamily="34" charset="0"/>
                <a:cs typeface="Tahoma" pitchFamily="34" charset="0"/>
              </a:rPr>
              <a:t>Note:</a:t>
            </a: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r>
              <a:rPr lang="en-US" sz="2400" dirty="0">
                <a:latin typeface="Tahoma" pitchFamily="34" charset="0"/>
                <a:cs typeface="Tahoma" pitchFamily="34" charset="0"/>
              </a:rPr>
              <a:t>0xC3 binary: 1100 0011</a:t>
            </a:r>
          </a:p>
          <a:p>
            <a:r>
              <a:rPr lang="en-US" sz="2400" dirty="0">
                <a:latin typeface="Tahoma" pitchFamily="34" charset="0"/>
                <a:cs typeface="Tahoma" pitchFamily="34" charset="0"/>
              </a:rPr>
              <a:t>complement-1 result:</a:t>
            </a:r>
          </a:p>
          <a:p>
            <a:r>
              <a:rPr lang="en-US" sz="2400" dirty="0">
                <a:latin typeface="Tahoma" pitchFamily="34" charset="0"/>
                <a:cs typeface="Tahoma" pitchFamily="34" charset="0"/>
              </a:rPr>
              <a:t>0011 1100  in hexadecimal 3C</a:t>
            </a:r>
          </a:p>
          <a:p>
            <a:pPr lvl="1"/>
            <a:endParaRPr lang="en-US" sz="2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6630" name="Text Box 4"/>
          <p:cNvSpPr txBox="1">
            <a:spLocks noChangeArrowheads="1"/>
          </p:cNvSpPr>
          <p:nvPr/>
        </p:nvSpPr>
        <p:spPr bwMode="auto">
          <a:xfrm>
            <a:off x="5410200" y="4038600"/>
            <a:ext cx="3200400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In C, writing a hexadecimal should start with </a:t>
            </a:r>
            <a:r>
              <a:rPr lang="en-US" sz="2000" b="1" dirty="0">
                <a:latin typeface="Tahoma" pitchFamily="34" charset="0"/>
                <a:cs typeface="Tahoma" pitchFamily="34" charset="0"/>
              </a:rPr>
              <a:t>0x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Bitwise Operators</a:t>
            </a:r>
          </a:p>
        </p:txBody>
      </p:sp>
      <p:sp>
        <p:nvSpPr>
          <p:cNvPr id="10240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+mn-lt"/>
              </a:rPr>
              <a:t>T0016 - Algorithm and Programming</a:t>
            </a:r>
          </a:p>
        </p:txBody>
      </p:sp>
      <p:sp>
        <p:nvSpPr>
          <p:cNvPr id="2765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D56DCEB-0FBD-429B-9F7A-F2D4A7598AAF}" type="slidenum">
              <a:rPr lang="en-US">
                <a:latin typeface="Tahoma" pitchFamily="34" charset="0"/>
                <a:cs typeface="Tahoma" pitchFamily="34" charset="0"/>
              </a:rPr>
              <a:pPr/>
              <a:t>25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7653" name="Rectangle 3"/>
          <p:cNvSpPr txBox="1">
            <a:spLocks noChangeArrowheads="1"/>
          </p:cNvSpPr>
          <p:nvPr/>
        </p:nvSpPr>
        <p:spPr bwMode="auto">
          <a:xfrm>
            <a:off x="971600" y="2276872"/>
            <a:ext cx="7924800" cy="437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 dirty="0">
                <a:latin typeface="Tahoma" pitchFamily="34" charset="0"/>
                <a:cs typeface="Tahoma" pitchFamily="34" charset="0"/>
              </a:rPr>
              <a:t> Example :</a:t>
            </a:r>
          </a:p>
          <a:p>
            <a:pPr lvl="1"/>
            <a:r>
              <a:rPr lang="en-US" sz="20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A, B=78;</a:t>
            </a:r>
          </a:p>
          <a:p>
            <a:pPr lvl="1"/>
            <a:r>
              <a:rPr lang="en-US" sz="20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A = B &gt;&gt; 3; //value A=9</a:t>
            </a:r>
          </a:p>
          <a:p>
            <a:pPr lvl="1"/>
            <a:r>
              <a:rPr lang="en-US" sz="20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A = B &lt;&lt; 2; //value A=312</a:t>
            </a:r>
          </a:p>
        </p:txBody>
      </p:sp>
      <p:sp>
        <p:nvSpPr>
          <p:cNvPr id="27654" name="Text Box 4"/>
          <p:cNvSpPr txBox="1">
            <a:spLocks noChangeArrowheads="1"/>
          </p:cNvSpPr>
          <p:nvPr/>
        </p:nvSpPr>
        <p:spPr bwMode="auto">
          <a:xfrm>
            <a:off x="1219200" y="3961978"/>
            <a:ext cx="6705600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dirty="0">
                <a:latin typeface="Tahoma" pitchFamily="34" charset="0"/>
                <a:cs typeface="Tahoma" pitchFamily="34" charset="0"/>
              </a:rPr>
              <a:t>78, binary: 0100 1110</a:t>
            </a:r>
          </a:p>
          <a:p>
            <a:r>
              <a:rPr lang="en-US" sz="1800" dirty="0">
                <a:latin typeface="Tahoma" pitchFamily="34" charset="0"/>
                <a:cs typeface="Tahoma" pitchFamily="34" charset="0"/>
              </a:rPr>
              <a:t>first shift right: 0010 0111</a:t>
            </a:r>
          </a:p>
          <a:p>
            <a:r>
              <a:rPr lang="en-US" sz="1800" dirty="0">
                <a:latin typeface="Tahoma" pitchFamily="34" charset="0"/>
                <a:cs typeface="Tahoma" pitchFamily="34" charset="0"/>
              </a:rPr>
              <a:t>second shift right: 0001 0011</a:t>
            </a:r>
          </a:p>
          <a:p>
            <a:r>
              <a:rPr lang="en-US" sz="1800" dirty="0">
                <a:latin typeface="Tahoma" pitchFamily="34" charset="0"/>
                <a:cs typeface="Tahoma" pitchFamily="34" charset="0"/>
              </a:rPr>
              <a:t>third shift right : 00001001  </a:t>
            </a:r>
            <a:r>
              <a:rPr lang="en-US" sz="1800" dirty="0">
                <a:latin typeface="Tahoma" pitchFamily="34" charset="0"/>
                <a:cs typeface="Tahoma" pitchFamily="34" charset="0"/>
                <a:sym typeface="Wingdings" pitchFamily="2" charset="2"/>
              </a:rPr>
              <a:t></a:t>
            </a:r>
            <a:r>
              <a:rPr lang="en-US" sz="1800" dirty="0">
                <a:latin typeface="Tahoma" pitchFamily="34" charset="0"/>
                <a:cs typeface="Tahoma" pitchFamily="34" charset="0"/>
              </a:rPr>
              <a:t> 9 decimal</a:t>
            </a:r>
          </a:p>
        </p:txBody>
      </p:sp>
      <p:sp>
        <p:nvSpPr>
          <p:cNvPr id="27655" name="Text Box 5"/>
          <p:cNvSpPr txBox="1">
            <a:spLocks noChangeArrowheads="1"/>
          </p:cNvSpPr>
          <p:nvPr/>
        </p:nvSpPr>
        <p:spPr bwMode="auto">
          <a:xfrm>
            <a:off x="1219200" y="5457403"/>
            <a:ext cx="6705600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dirty="0">
                <a:latin typeface="Tahoma" pitchFamily="34" charset="0"/>
                <a:cs typeface="Tahoma" pitchFamily="34" charset="0"/>
              </a:rPr>
              <a:t>78, binary: 0100 1110</a:t>
            </a:r>
          </a:p>
          <a:p>
            <a:r>
              <a:rPr lang="en-US" sz="1800" dirty="0">
                <a:latin typeface="Tahoma" pitchFamily="34" charset="0"/>
                <a:cs typeface="Tahoma" pitchFamily="34" charset="0"/>
              </a:rPr>
              <a:t>first shift left: 0100 11100</a:t>
            </a:r>
          </a:p>
          <a:p>
            <a:r>
              <a:rPr lang="en-US" sz="1800" dirty="0">
                <a:latin typeface="Tahoma" pitchFamily="34" charset="0"/>
                <a:cs typeface="Tahoma" pitchFamily="34" charset="0"/>
              </a:rPr>
              <a:t>second shift left: 0100 111000 </a:t>
            </a:r>
            <a:r>
              <a:rPr lang="en-US" sz="1800" dirty="0">
                <a:latin typeface="Tahoma" pitchFamily="34" charset="0"/>
                <a:cs typeface="Tahoma" pitchFamily="34" charset="0"/>
                <a:sym typeface="Wingdings" pitchFamily="2" charset="2"/>
              </a:rPr>
              <a:t></a:t>
            </a:r>
            <a:r>
              <a:rPr lang="en-US" sz="1800" dirty="0">
                <a:latin typeface="Tahoma" pitchFamily="34" charset="0"/>
                <a:cs typeface="Tahoma" pitchFamily="34" charset="0"/>
              </a:rPr>
              <a:t> 312 decimal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Pointer Operators</a:t>
            </a:r>
          </a:p>
        </p:txBody>
      </p:sp>
      <p:sp>
        <p:nvSpPr>
          <p:cNvPr id="2867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E6C8E9-6DC2-455A-8BEE-C6AFAD346B03}" type="slidenum">
              <a:rPr lang="en-US">
                <a:latin typeface="Tahoma" pitchFamily="34" charset="0"/>
                <a:cs typeface="Tahoma" pitchFamily="34" charset="0"/>
              </a:rPr>
              <a:pPr/>
              <a:t>26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8677" name="Rectangle 3"/>
          <p:cNvSpPr txBox="1">
            <a:spLocks noChangeArrowheads="1"/>
          </p:cNvSpPr>
          <p:nvPr/>
        </p:nvSpPr>
        <p:spPr bwMode="auto">
          <a:xfrm>
            <a:off x="971600" y="2060848"/>
            <a:ext cx="7924800" cy="437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400" b="1" dirty="0">
                <a:latin typeface="Tahoma" pitchFamily="34" charset="0"/>
                <a:cs typeface="Tahoma" pitchFamily="34" charset="0"/>
              </a:rPr>
              <a:t>Pointer operators consist of:</a:t>
            </a: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 lvl="1"/>
            <a:r>
              <a:rPr lang="en-US" sz="2400" dirty="0">
                <a:latin typeface="Tahoma" pitchFamily="34" charset="0"/>
                <a:cs typeface="Tahoma" pitchFamily="34" charset="0"/>
              </a:rPr>
              <a:t>  &amp; (address of)</a:t>
            </a:r>
          </a:p>
          <a:p>
            <a:pPr lvl="1"/>
            <a:r>
              <a:rPr lang="en-US" sz="2400" dirty="0">
                <a:latin typeface="Tahoma" pitchFamily="34" charset="0"/>
                <a:cs typeface="Tahoma" pitchFamily="34" charset="0"/>
              </a:rPr>
              <a:t>  * (value of)</a:t>
            </a:r>
          </a:p>
        </p:txBody>
      </p:sp>
      <p:sp>
        <p:nvSpPr>
          <p:cNvPr id="28678" name="Text Box 4"/>
          <p:cNvSpPr txBox="1">
            <a:spLocks noChangeArrowheads="1"/>
          </p:cNvSpPr>
          <p:nvPr/>
        </p:nvSpPr>
        <p:spPr bwMode="auto">
          <a:xfrm>
            <a:off x="1295400" y="3581400"/>
            <a:ext cx="6324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>
                <a:latin typeface="Tahoma" pitchFamily="34" charset="0"/>
                <a:cs typeface="Tahoma" pitchFamily="34" charset="0"/>
              </a:rPr>
              <a:t>will be discussed on session 13-14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Precedence and Associative</a:t>
            </a:r>
          </a:p>
        </p:txBody>
      </p:sp>
      <p:sp>
        <p:nvSpPr>
          <p:cNvPr id="2969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6B9BEB-188F-41A3-805B-E556DC4A0CB8}" type="slidenum">
              <a:rPr lang="en-US">
                <a:latin typeface="Tahoma" pitchFamily="34" charset="0"/>
                <a:cs typeface="Tahoma" pitchFamily="34" charset="0"/>
              </a:rPr>
              <a:pPr/>
              <a:t>27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9701" name="Rectangle 3"/>
          <p:cNvSpPr txBox="1">
            <a:spLocks noChangeArrowheads="1"/>
          </p:cNvSpPr>
          <p:nvPr/>
        </p:nvSpPr>
        <p:spPr bwMode="auto">
          <a:xfrm>
            <a:off x="967680" y="2130078"/>
            <a:ext cx="7924800" cy="345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Every operator will have </a:t>
            </a:r>
            <a:r>
              <a:rPr lang="en-US" sz="2400" b="1" dirty="0">
                <a:latin typeface="Tahoma" pitchFamily="34" charset="0"/>
                <a:cs typeface="Tahoma" pitchFamily="34" charset="0"/>
              </a:rPr>
              <a:t>precedence</a:t>
            </a:r>
            <a:r>
              <a:rPr lang="en-US" sz="2400" dirty="0">
                <a:latin typeface="Tahoma" pitchFamily="34" charset="0"/>
                <a:cs typeface="Tahoma" pitchFamily="34" charset="0"/>
              </a:rPr>
              <a:t> and </a:t>
            </a:r>
            <a:r>
              <a:rPr lang="en-US" sz="2400" b="1" dirty="0">
                <a:latin typeface="Tahoma" pitchFamily="34" charset="0"/>
                <a:cs typeface="Tahoma" pitchFamily="34" charset="0"/>
              </a:rPr>
              <a:t>associative</a:t>
            </a:r>
            <a:r>
              <a:rPr lang="en-US" sz="2400" dirty="0">
                <a:latin typeface="Tahoma" pitchFamily="34" charset="0"/>
                <a:cs typeface="Tahoma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b="1" dirty="0">
                <a:latin typeface="Tahoma" pitchFamily="34" charset="0"/>
                <a:cs typeface="Tahoma" pitchFamily="34" charset="0"/>
              </a:rPr>
              <a:t>Precedence</a:t>
            </a:r>
            <a:r>
              <a:rPr lang="en-US" sz="2400" dirty="0">
                <a:latin typeface="Tahoma" pitchFamily="34" charset="0"/>
                <a:cs typeface="Tahoma" pitchFamily="34" charset="0"/>
              </a:rPr>
              <a:t> describes the order of operator execution based on its priority. Operator with the highest precedence will initially executed. 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b="1" dirty="0">
                <a:latin typeface="Tahoma" pitchFamily="34" charset="0"/>
                <a:cs typeface="Tahoma" pitchFamily="34" charset="0"/>
              </a:rPr>
              <a:t>Associative</a:t>
            </a:r>
            <a:r>
              <a:rPr lang="en-US" sz="2400" dirty="0">
                <a:latin typeface="Tahoma" pitchFamily="34" charset="0"/>
                <a:cs typeface="Tahoma" pitchFamily="34" charset="0"/>
              </a:rPr>
              <a:t> describes the order of operator execution based on its location inside an expression (from left or right order). Associative will be used for operators with the same precedence level.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Precedence and Associative</a:t>
            </a:r>
          </a:p>
        </p:txBody>
      </p:sp>
      <p:sp>
        <p:nvSpPr>
          <p:cNvPr id="3072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53E2A9F-3E8B-46CA-891C-E44FA0667F5C}" type="slidenum">
              <a:rPr lang="en-US">
                <a:latin typeface="Tahoma" pitchFamily="34" charset="0"/>
                <a:cs typeface="Tahoma" pitchFamily="34" charset="0"/>
              </a:rPr>
              <a:pPr/>
              <a:t>28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30725" name="Rectangle 3"/>
          <p:cNvSpPr txBox="1">
            <a:spLocks noChangeArrowheads="1"/>
          </p:cNvSpPr>
          <p:nvPr/>
        </p:nvSpPr>
        <p:spPr bwMode="auto">
          <a:xfrm>
            <a:off x="762000" y="1874838"/>
            <a:ext cx="7924800" cy="345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endParaRPr lang="id-ID" sz="240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30726" name="Picture 3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1979712" y="1936298"/>
            <a:ext cx="6192688" cy="451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463550" indent="-395288">
              <a:lnSpc>
                <a:spcPct val="90000"/>
              </a:lnSpc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Precedence and Associative: Example</a:t>
            </a:r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29B5D3-F693-4245-810D-FA773D1029F5}" type="slidenum">
              <a:rPr lang="en-US">
                <a:latin typeface="Tahoma" pitchFamily="34" charset="0"/>
                <a:cs typeface="Tahoma" pitchFamily="34" charset="0"/>
              </a:rPr>
              <a:pPr/>
              <a:t>29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1030" name="Rectangle 3"/>
          <p:cNvSpPr txBox="1">
            <a:spLocks noChangeArrowheads="1"/>
          </p:cNvSpPr>
          <p:nvPr/>
        </p:nvSpPr>
        <p:spPr bwMode="auto">
          <a:xfrm>
            <a:off x="762000" y="1874838"/>
            <a:ext cx="7924800" cy="345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endParaRPr lang="id-ID" sz="2400">
              <a:latin typeface="Tahoma" pitchFamily="34" charset="0"/>
              <a:cs typeface="Tahoma" pitchFamily="34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539552" y="2420888"/>
          <a:ext cx="41910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Bitmap Image" r:id="rId4" imgW="3019048" imgH="1152381" progId="Paint.Picture">
                  <p:embed/>
                </p:oleObj>
              </mc:Choice>
              <mc:Fallback>
                <p:oleObj name="Bitmap Image" r:id="rId4" imgW="3019048" imgH="115238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420888"/>
                        <a:ext cx="41910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1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76800" y="2362200"/>
            <a:ext cx="4114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mtClean="0">
                <a:latin typeface="Tahoma" pitchFamily="34" charset="0"/>
                <a:cs typeface="Tahoma" pitchFamily="34" charset="0"/>
              </a:rPr>
              <a:t>Exercise </a:t>
            </a:r>
          </a:p>
        </p:txBody>
      </p:sp>
      <p:sp>
        <p:nvSpPr>
          <p:cNvPr id="3174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9CB8EF-F49D-4299-8D24-BAF9174F050C}" type="slidenum">
              <a:rPr lang="en-US">
                <a:latin typeface="Tahoma" pitchFamily="34" charset="0"/>
                <a:cs typeface="Tahoma" pitchFamily="34" charset="0"/>
              </a:rPr>
              <a:pPr/>
              <a:t>30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41325" indent="-441325">
              <a:lnSpc>
                <a:spcPct val="80000"/>
              </a:lnSpc>
              <a:buFontTx/>
              <a:buAutoNum type="arabicPeriod"/>
            </a:pPr>
            <a:r>
              <a:rPr lang="en-US" smtClean="0">
                <a:latin typeface="Tahoma" pitchFamily="34" charset="0"/>
                <a:cs typeface="Tahoma" pitchFamily="34" charset="0"/>
              </a:rPr>
              <a:t>If all variables are integer, then state the value of A if:</a:t>
            </a:r>
          </a:p>
          <a:p>
            <a:pPr marL="1249363" lvl="1" indent="-536575">
              <a:lnSpc>
                <a:spcPct val="80000"/>
              </a:lnSpc>
              <a:buFontTx/>
              <a:buNone/>
            </a:pPr>
            <a:r>
              <a:rPr lang="en-US" smtClean="0">
                <a:latin typeface="Courier New" pitchFamily="49" charset="0"/>
              </a:rPr>
              <a:t>B=23; C=12; D=32; E=0;</a:t>
            </a:r>
          </a:p>
          <a:p>
            <a:pPr marL="1249363" lvl="1" indent="-536575">
              <a:lnSpc>
                <a:spcPct val="80000"/>
              </a:lnSpc>
              <a:buFont typeface="Interstate"/>
              <a:buAutoNum type="alphaLcParenR"/>
            </a:pPr>
            <a:r>
              <a:rPr lang="en-US" smtClean="0">
                <a:latin typeface="Courier New" pitchFamily="49" charset="0"/>
              </a:rPr>
              <a:t>A = B &amp;&amp; E;</a:t>
            </a:r>
          </a:p>
          <a:p>
            <a:pPr marL="1249363" lvl="1" indent="-536575">
              <a:lnSpc>
                <a:spcPct val="80000"/>
              </a:lnSpc>
              <a:buFont typeface="Interstate"/>
              <a:buAutoNum type="alphaLcParenR"/>
            </a:pPr>
            <a:r>
              <a:rPr lang="en-US" smtClean="0">
                <a:latin typeface="Courier New" pitchFamily="49" charset="0"/>
              </a:rPr>
              <a:t>A = B &amp; C;</a:t>
            </a:r>
          </a:p>
          <a:p>
            <a:pPr marL="1249363" lvl="1" indent="-536575">
              <a:lnSpc>
                <a:spcPct val="80000"/>
              </a:lnSpc>
              <a:buFont typeface="Interstate"/>
              <a:buAutoNum type="alphaLcParenR"/>
            </a:pPr>
            <a:r>
              <a:rPr lang="en-US" smtClean="0">
                <a:latin typeface="Courier New" pitchFamily="49" charset="0"/>
              </a:rPr>
              <a:t>A = C || D;</a:t>
            </a:r>
          </a:p>
          <a:p>
            <a:pPr marL="1249363" lvl="1" indent="-536575">
              <a:lnSpc>
                <a:spcPct val="80000"/>
              </a:lnSpc>
              <a:buFont typeface="Interstate"/>
              <a:buAutoNum type="alphaLcParenR"/>
            </a:pPr>
            <a:r>
              <a:rPr lang="en-US" smtClean="0">
                <a:latin typeface="Courier New" pitchFamily="49" charset="0"/>
              </a:rPr>
              <a:t>A = B | D;</a:t>
            </a:r>
          </a:p>
          <a:p>
            <a:pPr marL="1249363" lvl="1" indent="-536575">
              <a:lnSpc>
                <a:spcPct val="80000"/>
              </a:lnSpc>
              <a:buFont typeface="Interstate"/>
              <a:buAutoNum type="alphaLcParenR"/>
            </a:pPr>
            <a:r>
              <a:rPr lang="en-US" smtClean="0">
                <a:latin typeface="Courier New" pitchFamily="49" charset="0"/>
              </a:rPr>
              <a:t>A = B &gt; 2;</a:t>
            </a:r>
          </a:p>
          <a:p>
            <a:pPr marL="1249363" lvl="1" indent="-536575">
              <a:lnSpc>
                <a:spcPct val="80000"/>
              </a:lnSpc>
              <a:buFont typeface="Interstate"/>
              <a:buAutoNum type="alphaLcParenR"/>
            </a:pPr>
            <a:r>
              <a:rPr lang="en-US" smtClean="0">
                <a:latin typeface="Courier New" pitchFamily="49" charset="0"/>
              </a:rPr>
              <a:t>A = B &gt;&gt; 2;</a:t>
            </a:r>
          </a:p>
          <a:p>
            <a:pPr marL="1249363" lvl="1" indent="-536575">
              <a:lnSpc>
                <a:spcPct val="80000"/>
              </a:lnSpc>
              <a:buFont typeface="Interstate"/>
              <a:buAutoNum type="alphaLcParenR"/>
            </a:pPr>
            <a:r>
              <a:rPr lang="en-US" smtClean="0">
                <a:latin typeface="Courier New" pitchFamily="49" charset="0"/>
              </a:rPr>
              <a:t>A = C &lt; 3;</a:t>
            </a:r>
          </a:p>
          <a:p>
            <a:pPr marL="1249363" lvl="1" indent="-536575">
              <a:lnSpc>
                <a:spcPct val="80000"/>
              </a:lnSpc>
              <a:buFont typeface="Interstate"/>
              <a:buAutoNum type="alphaLcParenR"/>
            </a:pPr>
            <a:r>
              <a:rPr lang="en-US" smtClean="0">
                <a:latin typeface="Courier New" pitchFamily="49" charset="0"/>
              </a:rPr>
              <a:t>A = C &lt;&lt; 3;</a:t>
            </a:r>
          </a:p>
          <a:p>
            <a:pPr marL="1249363" lvl="1" indent="-536575">
              <a:lnSpc>
                <a:spcPct val="80000"/>
              </a:lnSpc>
              <a:buFont typeface="Interstate"/>
              <a:buAutoNum type="alphaLcParenR"/>
            </a:pPr>
            <a:r>
              <a:rPr lang="en-US" smtClean="0">
                <a:latin typeface="Courier New" pitchFamily="49" charset="0"/>
              </a:rPr>
              <a:t>A = B = C;</a:t>
            </a:r>
          </a:p>
          <a:p>
            <a:pPr marL="1249363" lvl="1" indent="-536575">
              <a:lnSpc>
                <a:spcPct val="80000"/>
              </a:lnSpc>
              <a:buFont typeface="Interstate"/>
              <a:buAutoNum type="alphaLcParenR"/>
            </a:pPr>
            <a:r>
              <a:rPr lang="en-US" smtClean="0">
                <a:latin typeface="Courier New" pitchFamily="49" charset="0"/>
              </a:rPr>
              <a:t>A = B == C;</a:t>
            </a:r>
          </a:p>
          <a:p>
            <a:pPr marL="441325" indent="-441325">
              <a:buFontTx/>
              <a:buAutoNum type="arabicPeriod"/>
            </a:pPr>
            <a:endParaRPr lang="id-ID" b="1" smtClean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mtClean="0">
                <a:latin typeface="Tahoma" pitchFamily="34" charset="0"/>
                <a:cs typeface="Tahoma" pitchFamily="34" charset="0"/>
              </a:rPr>
              <a:t>Exercise </a:t>
            </a:r>
          </a:p>
        </p:txBody>
      </p:sp>
      <p:sp>
        <p:nvSpPr>
          <p:cNvPr id="3277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736CE80-9D53-4AA7-A5F0-DB399F9CA301}" type="slidenum">
              <a:rPr lang="en-US">
                <a:latin typeface="Tahoma" pitchFamily="34" charset="0"/>
                <a:cs typeface="Tahoma" pitchFamily="34" charset="0"/>
              </a:rPr>
              <a:pPr/>
              <a:t>31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80000"/>
              </a:lnSpc>
              <a:buFontTx/>
              <a:buAutoNum type="arabicPeriod" startAt="2"/>
            </a:pPr>
            <a:r>
              <a:rPr lang="id-ID" b="1" dirty="0" smtClean="0">
                <a:latin typeface="Tahoma" pitchFamily="34" charset="0"/>
                <a:cs typeface="Tahoma" pitchFamily="34" charset="0"/>
              </a:rPr>
              <a:t> 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id-ID" b="1" dirty="0" smtClean="0">
                <a:latin typeface="Tahoma" pitchFamily="34" charset="0"/>
                <a:cs typeface="Tahoma" pitchFamily="34" charset="0"/>
              </a:rPr>
              <a:t>	</a:t>
            </a:r>
            <a:r>
              <a:rPr lang="id-ID" sz="2000" dirty="0" smtClean="0">
                <a:latin typeface="Courier New" pitchFamily="49" charset="0"/>
              </a:rPr>
              <a:t>#include &lt;stdio.h&gt;</a:t>
            </a:r>
          </a:p>
          <a:p>
            <a:pPr marL="633413" lvl="1">
              <a:lnSpc>
                <a:spcPct val="90000"/>
              </a:lnSpc>
              <a:buFontTx/>
              <a:buNone/>
            </a:pPr>
            <a:r>
              <a:rPr lang="id-ID" dirty="0" smtClean="0">
                <a:latin typeface="Courier New" pitchFamily="49" charset="0"/>
              </a:rPr>
              <a:t>int main()</a:t>
            </a:r>
          </a:p>
          <a:p>
            <a:pPr marL="633413" lvl="1">
              <a:lnSpc>
                <a:spcPct val="90000"/>
              </a:lnSpc>
              <a:buFontTx/>
              <a:buNone/>
            </a:pPr>
            <a:r>
              <a:rPr lang="id-ID" dirty="0" smtClean="0">
                <a:latin typeface="Courier New" pitchFamily="49" charset="0"/>
              </a:rPr>
              <a:t>{</a:t>
            </a:r>
          </a:p>
          <a:p>
            <a:pPr marL="633413" lvl="1">
              <a:lnSpc>
                <a:spcPct val="90000"/>
              </a:lnSpc>
              <a:buFontTx/>
              <a:buNone/>
            </a:pPr>
            <a:r>
              <a:rPr lang="id-ID" dirty="0" smtClean="0">
                <a:latin typeface="Courier New" pitchFamily="49" charset="0"/>
              </a:rPr>
              <a:t>    int x=10, y=6;</a:t>
            </a:r>
          </a:p>
          <a:p>
            <a:pPr marL="633413" lvl="1">
              <a:lnSpc>
                <a:spcPct val="90000"/>
              </a:lnSpc>
              <a:buFontTx/>
              <a:buNone/>
            </a:pPr>
            <a:r>
              <a:rPr lang="id-ID" dirty="0" smtClean="0">
                <a:latin typeface="Courier New" pitchFamily="49" charset="0"/>
              </a:rPr>
              <a:t>    x *= 5 + y;</a:t>
            </a:r>
          </a:p>
          <a:p>
            <a:pPr marL="633413" lvl="1">
              <a:lnSpc>
                <a:spcPct val="90000"/>
              </a:lnSpc>
              <a:buFontTx/>
              <a:buNone/>
            </a:pPr>
            <a:r>
              <a:rPr lang="id-ID" dirty="0" smtClean="0">
                <a:latin typeface="Courier New" pitchFamily="49" charset="0"/>
              </a:rPr>
              <a:t>    printf("%d\n",x);</a:t>
            </a:r>
          </a:p>
          <a:p>
            <a:pPr marL="633413" lvl="1">
              <a:lnSpc>
                <a:spcPct val="90000"/>
              </a:lnSpc>
              <a:buFontTx/>
              <a:buNone/>
            </a:pPr>
            <a:r>
              <a:rPr lang="id-ID" dirty="0" smtClean="0">
                <a:latin typeface="Courier New" pitchFamily="49" charset="0"/>
              </a:rPr>
              <a:t>   return(0);</a:t>
            </a:r>
          </a:p>
          <a:p>
            <a:pPr marL="633413" lvl="1">
              <a:lnSpc>
                <a:spcPct val="90000"/>
              </a:lnSpc>
              <a:buFontTx/>
              <a:buNone/>
            </a:pPr>
            <a:r>
              <a:rPr lang="id-ID" dirty="0" smtClean="0">
                <a:latin typeface="Courier New" pitchFamily="49" charset="0"/>
              </a:rPr>
              <a:t>}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id-ID" sz="2000" dirty="0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id-ID" sz="2000" dirty="0" smtClean="0">
                <a:latin typeface="Tahoma" pitchFamily="34" charset="0"/>
                <a:cs typeface="Tahoma" pitchFamily="34" charset="0"/>
              </a:rPr>
              <a:t>What is </a:t>
            </a:r>
            <a:r>
              <a:rPr lang="id-ID" sz="2000" dirty="0" smtClean="0">
                <a:latin typeface="Courier New" pitchFamily="49" charset="0"/>
                <a:ea typeface="Tahoma" pitchFamily="34" charset="0"/>
                <a:cs typeface="Courier New" pitchFamily="49" charset="0"/>
              </a:rPr>
              <a:t>x</a:t>
            </a:r>
            <a:r>
              <a:rPr lang="id-ID" sz="2000" dirty="0" smtClean="0">
                <a:latin typeface="Tahoma" pitchFamily="34" charset="0"/>
                <a:cs typeface="Tahoma" pitchFamily="34" charset="0"/>
              </a:rPr>
              <a:t> value on the screen ?</a:t>
            </a:r>
          </a:p>
          <a:p>
            <a:pPr marL="457200" indent="-457200">
              <a:lnSpc>
                <a:spcPct val="80000"/>
              </a:lnSpc>
              <a:buFontTx/>
              <a:buNone/>
            </a:pPr>
            <a:endParaRPr lang="id-ID" sz="2000" b="1" dirty="0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32774" name="Rectangle 3"/>
          <p:cNvSpPr txBox="1">
            <a:spLocks noChangeArrowheads="1"/>
          </p:cNvSpPr>
          <p:nvPr/>
        </p:nvSpPr>
        <p:spPr bwMode="auto">
          <a:xfrm>
            <a:off x="4876800" y="2132856"/>
            <a:ext cx="381000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eaLnBrk="0" hangingPunct="0">
              <a:lnSpc>
                <a:spcPct val="80000"/>
              </a:lnSpc>
              <a:spcBef>
                <a:spcPct val="20000"/>
              </a:spcBef>
              <a:buFontTx/>
              <a:buAutoNum type="arabicPeriod" startAt="3"/>
            </a:pPr>
            <a:r>
              <a:rPr lang="en-US" sz="2400" b="1" dirty="0">
                <a:latin typeface="Tahoma" pitchFamily="34" charset="0"/>
                <a:cs typeface="Tahoma" pitchFamily="34" charset="0"/>
              </a:rPr>
              <a:t> </a:t>
            </a:r>
          </a:p>
          <a:p>
            <a:pPr marL="457200" indent="-4572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sz="2400" b="1" dirty="0">
                <a:latin typeface="Tahoma" pitchFamily="34" charset="0"/>
                <a:cs typeface="Tahoma" pitchFamily="34" charset="0"/>
              </a:rPr>
              <a:t>	</a:t>
            </a:r>
            <a:endParaRPr lang="en-US" sz="2000" dirty="0">
              <a:latin typeface="Courier New" pitchFamily="49" charset="0"/>
            </a:endParaRPr>
          </a:p>
          <a:p>
            <a:pPr marL="457200" indent="-457200" eaLnBrk="0" hangingPunct="0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Courier New" pitchFamily="49" charset="0"/>
            </a:endParaRPr>
          </a:p>
          <a:p>
            <a:pPr marL="457200" indent="-457200" eaLnBrk="0" hangingPunct="0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Courier New" pitchFamily="49" charset="0"/>
              <a:cs typeface="Tahoma" pitchFamily="34" charset="0"/>
            </a:endParaRPr>
          </a:p>
          <a:p>
            <a:pPr marL="457200" indent="-457200" eaLnBrk="0" hangingPunct="0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Courier New" pitchFamily="49" charset="0"/>
              <a:cs typeface="Tahoma" pitchFamily="34" charset="0"/>
            </a:endParaRPr>
          </a:p>
          <a:p>
            <a:pPr marL="457200" indent="-457200" eaLnBrk="0" hangingPunct="0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Courier New" pitchFamily="49" charset="0"/>
              <a:cs typeface="Tahoma" pitchFamily="34" charset="0"/>
            </a:endParaRPr>
          </a:p>
          <a:p>
            <a:pPr marL="457200" indent="-457200" eaLnBrk="0" hangingPunct="0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Courier New" pitchFamily="49" charset="0"/>
              <a:cs typeface="Tahoma" pitchFamily="34" charset="0"/>
            </a:endParaRPr>
          </a:p>
          <a:p>
            <a:pPr marL="457200" indent="-457200" eaLnBrk="0" hangingPunct="0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Courier New" pitchFamily="49" charset="0"/>
              <a:cs typeface="Tahoma" pitchFamily="34" charset="0"/>
            </a:endParaRPr>
          </a:p>
          <a:p>
            <a:pPr marL="457200" indent="-457200" eaLnBrk="0" hangingPunct="0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Courier New" pitchFamily="49" charset="0"/>
              <a:cs typeface="Tahoma" pitchFamily="34" charset="0"/>
            </a:endParaRPr>
          </a:p>
          <a:p>
            <a:pPr marL="457200" indent="-457200" eaLnBrk="0" hangingPunct="0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Tahoma" pitchFamily="34" charset="0"/>
              <a:cs typeface="Tahoma" pitchFamily="34" charset="0"/>
            </a:endParaRPr>
          </a:p>
          <a:p>
            <a:pPr marL="457200" indent="-4572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What is </a:t>
            </a:r>
            <a:r>
              <a:rPr lang="en-US" sz="20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x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value on the screen ?</a:t>
            </a:r>
          </a:p>
          <a:p>
            <a:pPr marL="457200" indent="-457200" eaLnBrk="0" hangingPunct="0">
              <a:lnSpc>
                <a:spcPct val="80000"/>
              </a:lnSpc>
              <a:spcBef>
                <a:spcPct val="20000"/>
              </a:spcBef>
            </a:pPr>
            <a:endParaRPr lang="id-ID" sz="2000" b="1" dirty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327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2666256"/>
            <a:ext cx="381000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mtClean="0">
                <a:latin typeface="Tahoma" pitchFamily="34" charset="0"/>
                <a:cs typeface="Tahoma" pitchFamily="34" charset="0"/>
              </a:rPr>
              <a:t>Exercise </a:t>
            </a:r>
          </a:p>
        </p:txBody>
      </p:sp>
      <p:sp>
        <p:nvSpPr>
          <p:cNvPr id="3379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0DBC11F-C303-4996-A592-5D32AD716F9A}" type="slidenum">
              <a:rPr lang="en-US">
                <a:latin typeface="Tahoma" pitchFamily="34" charset="0"/>
                <a:cs typeface="Tahoma" pitchFamily="34" charset="0"/>
              </a:rPr>
              <a:pPr/>
              <a:t>32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 </a:t>
            </a:r>
          </a:p>
          <a:p>
            <a:pPr marL="457200" indent="-457200">
              <a:lnSpc>
                <a:spcPct val="80000"/>
              </a:lnSpc>
              <a:buFontTx/>
              <a:buNone/>
            </a:pPr>
            <a:r>
              <a:rPr lang="en-US" b="1" smtClean="0">
                <a:latin typeface="Tahoma" pitchFamily="34" charset="0"/>
                <a:cs typeface="Tahoma" pitchFamily="34" charset="0"/>
              </a:rPr>
              <a:t> 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b="1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sz="2000" b="1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sz="2000" b="1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sz="2000" b="1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sz="2000" b="1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sz="2000" b="1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sz="2000" b="1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sz="2000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sz="2000" smtClean="0">
                <a:latin typeface="Tahoma" pitchFamily="34" charset="0"/>
                <a:cs typeface="Tahoma" pitchFamily="34" charset="0"/>
              </a:rPr>
              <a:t>What is </a:t>
            </a:r>
            <a:r>
              <a:rPr lang="en-US" sz="2000" smtClean="0">
                <a:latin typeface="Courier New" pitchFamily="49" charset="0"/>
                <a:ea typeface="Tahoma" pitchFamily="34" charset="0"/>
                <a:cs typeface="Courier New" pitchFamily="49" charset="0"/>
              </a:rPr>
              <a:t>y</a:t>
            </a:r>
            <a:r>
              <a:rPr lang="en-US" sz="2000" smtClean="0">
                <a:latin typeface="Tahoma" pitchFamily="34" charset="0"/>
                <a:cs typeface="Tahoma" pitchFamily="34" charset="0"/>
              </a:rPr>
              <a:t> value on the screen ?</a:t>
            </a:r>
          </a:p>
          <a:p>
            <a:pPr marL="457200" indent="-457200">
              <a:lnSpc>
                <a:spcPct val="80000"/>
              </a:lnSpc>
              <a:buFontTx/>
              <a:buNone/>
            </a:pPr>
            <a:endParaRPr lang="id-ID" sz="2000" b="1" smtClean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3379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708920"/>
            <a:ext cx="6324600" cy="255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mtClean="0">
                <a:latin typeface="Tahoma" pitchFamily="34" charset="0"/>
                <a:cs typeface="Tahoma" pitchFamily="34" charset="0"/>
              </a:rPr>
              <a:t>Exercise </a:t>
            </a:r>
          </a:p>
        </p:txBody>
      </p:sp>
      <p:sp>
        <p:nvSpPr>
          <p:cNvPr id="3481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9694DDF-2501-4DFD-99BC-ECB37BE89325}" type="slidenum">
              <a:rPr lang="en-US">
                <a:latin typeface="Tahoma" pitchFamily="34" charset="0"/>
                <a:cs typeface="Tahoma" pitchFamily="34" charset="0"/>
              </a:rPr>
              <a:pPr/>
              <a:t>33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>
          <a:xfrm>
            <a:off x="971872" y="2083668"/>
            <a:ext cx="7848600" cy="4153644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80000"/>
              </a:lnSpc>
              <a:buFontTx/>
              <a:buAutoNum type="arabicPeriod" startAt="5"/>
            </a:pPr>
            <a:r>
              <a:rPr lang="en-US" b="1" dirty="0" smtClean="0">
                <a:latin typeface="Tahoma" pitchFamily="34" charset="0"/>
                <a:cs typeface="Tahoma" pitchFamily="34" charset="0"/>
              </a:rPr>
              <a:t> </a:t>
            </a:r>
          </a:p>
          <a:p>
            <a:pPr marL="457200" indent="-457200">
              <a:lnSpc>
                <a:spcPct val="80000"/>
              </a:lnSpc>
              <a:buFontTx/>
              <a:buNone/>
            </a:pPr>
            <a:endParaRPr lang="en-US" b="1" dirty="0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80000"/>
              </a:lnSpc>
              <a:buFontTx/>
              <a:buNone/>
            </a:pPr>
            <a:r>
              <a:rPr lang="en-US" b="1" dirty="0" smtClean="0">
                <a:latin typeface="Tahoma" pitchFamily="34" charset="0"/>
                <a:cs typeface="Tahoma" pitchFamily="34" charset="0"/>
              </a:rPr>
              <a:t> 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b="1" dirty="0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sz="2000" b="1" dirty="0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sz="2000" b="1" dirty="0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sz="2000" b="1" dirty="0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sz="2000" b="1" dirty="0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sz="2000" b="1" dirty="0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id-ID" sz="2000" dirty="0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id-ID" dirty="0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sz="2000" dirty="0" smtClean="0">
              <a:latin typeface="Tahoma" pitchFamily="34" charset="0"/>
              <a:cs typeface="Tahoma" pitchFamily="34" charset="0"/>
            </a:endParaRPr>
          </a:p>
          <a:p>
            <a:pPr marL="457200" indent="-457200">
              <a:spcBef>
                <a:spcPct val="50000"/>
              </a:spcBef>
              <a:buFontTx/>
              <a:buNone/>
            </a:pPr>
            <a:r>
              <a:rPr lang="en-US" sz="2000" dirty="0" smtClean="0"/>
              <a:t>	What are the output of those programs?</a:t>
            </a:r>
          </a:p>
        </p:txBody>
      </p:sp>
      <p:pic>
        <p:nvPicPr>
          <p:cNvPr id="3482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2384" y="2033265"/>
            <a:ext cx="2895600" cy="1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34607" y="1993032"/>
            <a:ext cx="3157537" cy="1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96144" y="3821832"/>
            <a:ext cx="2971800" cy="1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5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67944" y="3821832"/>
            <a:ext cx="3200400" cy="174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mtClean="0">
                <a:latin typeface="Tahoma" pitchFamily="34" charset="0"/>
                <a:cs typeface="Tahoma" pitchFamily="34" charset="0"/>
              </a:rPr>
              <a:t>Exercise </a:t>
            </a:r>
          </a:p>
        </p:txBody>
      </p:sp>
      <p:sp>
        <p:nvSpPr>
          <p:cNvPr id="3584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11A85F2-4D4A-4091-8BD1-C64238F05E5F}" type="slidenum">
              <a:rPr lang="en-US">
                <a:latin typeface="Tahoma" pitchFamily="34" charset="0"/>
                <a:cs typeface="Tahoma" pitchFamily="34" charset="0"/>
              </a:rPr>
              <a:pPr/>
              <a:t>34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80000"/>
              </a:lnSpc>
              <a:buFontTx/>
              <a:buAutoNum type="arabicPeriod" startAt="6"/>
            </a:pPr>
            <a:r>
              <a:rPr lang="en-US" b="1" dirty="0" smtClean="0">
                <a:latin typeface="Tahoma" pitchFamily="34" charset="0"/>
                <a:cs typeface="Tahoma" pitchFamily="34" charset="0"/>
              </a:rPr>
              <a:t> </a:t>
            </a:r>
          </a:p>
          <a:p>
            <a:pPr marL="182563" lvl="1" indent="0">
              <a:buFontTx/>
              <a:buNone/>
            </a:pPr>
            <a:r>
              <a:rPr lang="en-US" sz="2400" dirty="0" smtClean="0">
                <a:latin typeface="Courier New" pitchFamily="49" charset="0"/>
                <a:ea typeface="Tahoma" pitchFamily="34" charset="0"/>
                <a:cs typeface="Courier New" pitchFamily="49" charset="0"/>
              </a:rPr>
              <a:t>z = (n &gt; 0) ? f : b;</a:t>
            </a:r>
          </a:p>
          <a:p>
            <a:pPr marL="182563" lvl="1" indent="0">
              <a:buFontTx/>
              <a:buNone/>
            </a:pPr>
            <a:r>
              <a:rPr lang="en-US" sz="2400" dirty="0" smtClean="0">
                <a:latin typeface="Tahoma" pitchFamily="34" charset="0"/>
                <a:cs typeface="Tahoma" pitchFamily="34" charset="0"/>
              </a:rPr>
              <a:t>From the given conditional expression above, do </a:t>
            </a:r>
            <a:r>
              <a:rPr lang="en-US" sz="2400" dirty="0" smtClean="0">
                <a:latin typeface="Courier New" pitchFamily="49" charset="0"/>
                <a:cs typeface="Tahoma" pitchFamily="34" charset="0"/>
              </a:rPr>
              <a:t>f</a:t>
            </a:r>
            <a:r>
              <a:rPr lang="en-US" sz="2400" dirty="0" smtClean="0">
                <a:latin typeface="Tahoma" pitchFamily="34" charset="0"/>
                <a:cs typeface="Tahoma" pitchFamily="34" charset="0"/>
              </a:rPr>
              <a:t> and </a:t>
            </a:r>
            <a:r>
              <a:rPr lang="en-US" sz="2400" dirty="0" smtClean="0">
                <a:latin typeface="Courier New" pitchFamily="49" charset="0"/>
                <a:cs typeface="Tahoma" pitchFamily="34" charset="0"/>
              </a:rPr>
              <a:t>b</a:t>
            </a:r>
            <a:r>
              <a:rPr lang="en-US" sz="2400" dirty="0" smtClean="0">
                <a:latin typeface="Tahoma" pitchFamily="34" charset="0"/>
                <a:cs typeface="Tahoma" pitchFamily="34" charset="0"/>
              </a:rPr>
              <a:t> have a different data type?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mtClean="0">
                <a:latin typeface="Tahoma" pitchFamily="34" charset="0"/>
                <a:cs typeface="Tahoma" pitchFamily="34" charset="0"/>
              </a:rPr>
              <a:t>Summary</a:t>
            </a:r>
          </a:p>
        </p:txBody>
      </p:sp>
      <p:sp>
        <p:nvSpPr>
          <p:cNvPr id="3686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8A19010-4124-4A14-ADC4-8C64D5788ABE}" type="slidenum">
              <a:rPr lang="en-US">
                <a:latin typeface="Tahoma" pitchFamily="34" charset="0"/>
                <a:cs typeface="Tahoma" pitchFamily="34" charset="0"/>
              </a:rPr>
              <a:pPr/>
              <a:t>35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smtClean="0">
                <a:latin typeface="Tahoma" pitchFamily="34" charset="0"/>
                <a:cs typeface="Tahoma" pitchFamily="34" charset="0"/>
              </a:rPr>
              <a:t>Operator is a symbol to process values in result for a new value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smtClean="0">
                <a:latin typeface="Tahoma" pitchFamily="34" charset="0"/>
                <a:cs typeface="Tahoma" pitchFamily="34" charset="0"/>
              </a:rPr>
              <a:t>Operand is part which specifies what data is to be manipulated or operated on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smtClean="0">
                <a:latin typeface="Tahoma" pitchFamily="34" charset="0"/>
                <a:cs typeface="Tahoma" pitchFamily="34" charset="0"/>
              </a:rPr>
              <a:t>Every operator will have precedence and associative</a:t>
            </a:r>
          </a:p>
          <a:p>
            <a:pPr>
              <a:lnSpc>
                <a:spcPct val="80000"/>
              </a:lnSpc>
              <a:spcAft>
                <a:spcPts val="600"/>
              </a:spcAft>
              <a:buFontTx/>
              <a:buNone/>
            </a:pPr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sz="2800" b="1" smtClean="0">
                <a:latin typeface="Tahoma" pitchFamily="34" charset="0"/>
                <a:cs typeface="Tahoma" pitchFamily="34" charset="0"/>
              </a:rPr>
              <a:t>References</a:t>
            </a:r>
          </a:p>
        </p:txBody>
      </p:sp>
      <p:sp>
        <p:nvSpPr>
          <p:cNvPr id="3789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B2A9BB7-89F9-4DB6-A60D-2D55720B632A}" type="slidenum">
              <a:rPr lang="id-ID">
                <a:latin typeface="Tahoma" pitchFamily="34" charset="0"/>
                <a:cs typeface="Tahoma" pitchFamily="34" charset="0"/>
              </a:rPr>
              <a:pPr/>
              <a:t>36</a:t>
            </a:fld>
            <a:endParaRPr lang="id-ID">
              <a:latin typeface="Tahoma" pitchFamily="34" charset="0"/>
              <a:cs typeface="Tahoma" pitchFamily="34" charset="0"/>
            </a:endParaRP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Tahoma" pitchFamily="34" charset="0"/>
                <a:cs typeface="Tahoma" pitchFamily="34" charset="0"/>
              </a:rPr>
              <a:t>Paul </a:t>
            </a:r>
            <a:r>
              <a:rPr lang="en-US" altLang="en-US" dirty="0" err="1">
                <a:latin typeface="Tahoma" pitchFamily="34" charset="0"/>
                <a:cs typeface="Tahoma" pitchFamily="34" charset="0"/>
              </a:rPr>
              <a:t>Deitel</a:t>
            </a:r>
            <a:r>
              <a:rPr lang="en-US" altLang="en-US" dirty="0">
                <a:latin typeface="Tahoma" pitchFamily="34" charset="0"/>
                <a:cs typeface="Tahoma" pitchFamily="34" charset="0"/>
              </a:rPr>
              <a:t> &amp; Harvey </a:t>
            </a:r>
            <a:r>
              <a:rPr lang="en-US" altLang="en-US" dirty="0" err="1">
                <a:latin typeface="Tahoma" pitchFamily="34" charset="0"/>
                <a:cs typeface="Tahoma" pitchFamily="34" charset="0"/>
              </a:rPr>
              <a:t>Deitel</a:t>
            </a:r>
            <a:r>
              <a:rPr lang="en-US" altLang="en-US" dirty="0">
                <a:latin typeface="Tahoma" pitchFamily="34" charset="0"/>
                <a:cs typeface="Tahoma" pitchFamily="34" charset="0"/>
              </a:rPr>
              <a:t>. (2016). C how to program : with an introduction to C++. 08. Pearson  Education. Hoboken. ISBN: 9780133976892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.</a:t>
            </a:r>
            <a:r>
              <a:rPr lang="id-ID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id-ID" sz="2000" dirty="0" smtClean="0">
                <a:latin typeface="Tahoma" pitchFamily="34" charset="0"/>
                <a:cs typeface="Tahoma" pitchFamily="34" charset="0"/>
              </a:rPr>
              <a:t>Chapter 2, 3 &amp; 4 </a:t>
            </a:r>
          </a:p>
          <a:p>
            <a:r>
              <a:rPr lang="id-ID" sz="2000" dirty="0" smtClean="0">
                <a:latin typeface="Tahoma" pitchFamily="34" charset="0"/>
                <a:cs typeface="Tahoma" pitchFamily="34" charset="0"/>
              </a:rPr>
              <a:t>Manipulating Data with Operators: </a:t>
            </a:r>
            <a:r>
              <a:rPr lang="id-ID" sz="2000" dirty="0" smtClean="0">
                <a:latin typeface="Tahoma" pitchFamily="34" charset="0"/>
                <a:cs typeface="Tahoma" pitchFamily="34" charset="0"/>
                <a:hlinkClick r:id="rId3"/>
              </a:rPr>
              <a:t>http://aelinik.free.fr/c/ch06.htm</a:t>
            </a:r>
            <a:endParaRPr lang="id-ID" sz="2000" dirty="0" smtClean="0">
              <a:latin typeface="Tahoma" pitchFamily="34" charset="0"/>
              <a:cs typeface="Tahoma" pitchFamily="34" charset="0"/>
            </a:endParaRPr>
          </a:p>
          <a:p>
            <a:endParaRPr lang="id-ID" sz="2000" dirty="0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891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4C44FC3-A9E4-43F5-8767-04D06835C343}" type="slidenum">
              <a:rPr lang="en-US">
                <a:latin typeface="Tahoma" pitchFamily="34" charset="0"/>
                <a:cs typeface="Tahoma" pitchFamily="34" charset="0"/>
              </a:rPr>
              <a:pPr/>
              <a:t>37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algn="ctr"/>
            <a:endParaRPr lang="en-US" sz="3200" b="1" smtClean="0">
              <a:latin typeface="Tahoma" pitchFamily="34" charset="0"/>
              <a:cs typeface="Tahoma" pitchFamily="34" charset="0"/>
            </a:endParaRPr>
          </a:p>
          <a:p>
            <a:pPr marL="0" indent="0" algn="ctr"/>
            <a:endParaRPr lang="en-US" sz="3200" b="1" smtClean="0">
              <a:latin typeface="Tahoma" pitchFamily="34" charset="0"/>
              <a:cs typeface="Tahoma" pitchFamily="34" charset="0"/>
            </a:endParaRPr>
          </a:p>
          <a:p>
            <a:pPr marL="0" indent="0" algn="ctr">
              <a:buFontTx/>
              <a:buNone/>
            </a:pPr>
            <a:r>
              <a:rPr lang="en-US" sz="3200" b="1" smtClean="0">
                <a:latin typeface="Tahoma" pitchFamily="34" charset="0"/>
                <a:cs typeface="Tahoma" pitchFamily="34" charset="0"/>
              </a:rPr>
              <a:t>END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 smtClean="0">
                <a:latin typeface="+mn-lt"/>
              </a:rPr>
              <a:t>COMP6047 </a:t>
            </a:r>
            <a:r>
              <a:rPr lang="en-US" dirty="0" smtClean="0">
                <a:latin typeface="+mn-lt"/>
              </a:rPr>
              <a:t>- </a:t>
            </a:r>
            <a:r>
              <a:rPr lang="en-US" dirty="0">
                <a:latin typeface="+mn-lt"/>
              </a:rPr>
              <a:t>Algorithm and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B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Presentation1</Template>
  <TotalTime>329</TotalTime>
  <Words>1626</Words>
  <Application>Microsoft Office PowerPoint</Application>
  <PresentationFormat>On-screen Show (4:3)</PresentationFormat>
  <Paragraphs>554</Paragraphs>
  <Slides>37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ＭＳ Ｐゴシック</vt:lpstr>
      <vt:lpstr>Arial</vt:lpstr>
      <vt:lpstr>Calibri</vt:lpstr>
      <vt:lpstr>Courier New</vt:lpstr>
      <vt:lpstr>Interstate</vt:lpstr>
      <vt:lpstr>Open Sans</vt:lpstr>
      <vt:lpstr>Symbol</vt:lpstr>
      <vt:lpstr>Tahoma</vt:lpstr>
      <vt:lpstr>Wingdings</vt:lpstr>
      <vt:lpstr>TemplateBM</vt:lpstr>
      <vt:lpstr>Bitmap Image</vt:lpstr>
      <vt:lpstr>Operator, Operand, and Arithmetic</vt:lpstr>
      <vt:lpstr>Learning Outcomes</vt:lpstr>
      <vt:lpstr>Sub Topics</vt:lpstr>
      <vt:lpstr>Operator and Operand Introduction </vt:lpstr>
      <vt:lpstr>Operator and Operand Introduction </vt:lpstr>
      <vt:lpstr>Assignment Operators</vt:lpstr>
      <vt:lpstr>Assignment Operators</vt:lpstr>
      <vt:lpstr>Arithmetic Operators </vt:lpstr>
      <vt:lpstr>Arithmetic Operators </vt:lpstr>
      <vt:lpstr>Arithmetic Operators </vt:lpstr>
      <vt:lpstr>Arithmetic Operators </vt:lpstr>
      <vt:lpstr>Arithmetic Operators </vt:lpstr>
      <vt:lpstr>Arithmetic Operators </vt:lpstr>
      <vt:lpstr>Arithmetic Operators </vt:lpstr>
      <vt:lpstr>Relational Operators </vt:lpstr>
      <vt:lpstr>Relational Operators </vt:lpstr>
      <vt:lpstr>Conditional Expressions</vt:lpstr>
      <vt:lpstr>Conditional Expressions</vt:lpstr>
      <vt:lpstr>Logical Operator</vt:lpstr>
      <vt:lpstr>Logical Operators</vt:lpstr>
      <vt:lpstr>Bitwise Operators</vt:lpstr>
      <vt:lpstr>Bitwise Operators</vt:lpstr>
      <vt:lpstr>Bitwise Operators</vt:lpstr>
      <vt:lpstr>Bitwise Operators</vt:lpstr>
      <vt:lpstr>Bitwise Operators</vt:lpstr>
      <vt:lpstr>Pointer Operators</vt:lpstr>
      <vt:lpstr>Precedence and Associative</vt:lpstr>
      <vt:lpstr>Precedence and Associative</vt:lpstr>
      <vt:lpstr>Precedence and Associative: Example</vt:lpstr>
      <vt:lpstr>Exercise </vt:lpstr>
      <vt:lpstr>Exercise </vt:lpstr>
      <vt:lpstr>Exercise </vt:lpstr>
      <vt:lpstr>Exercise </vt:lpstr>
      <vt:lpstr>Exercise </vt:lpstr>
      <vt:lpstr>Summary</vt:lpstr>
      <vt:lpstr>References</vt:lpstr>
      <vt:lpstr>PowerPoint Presentation</vt:lpstr>
    </vt:vector>
  </TitlesOfParts>
  <Company>fasilkom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creator>sablin yusuf</dc:creator>
  <cp:lastModifiedBy>BINUS</cp:lastModifiedBy>
  <cp:revision>50</cp:revision>
  <dcterms:created xsi:type="dcterms:W3CDTF">2007-02-22T08:40:35Z</dcterms:created>
  <dcterms:modified xsi:type="dcterms:W3CDTF">2019-04-22T05:08:00Z</dcterms:modified>
</cp:coreProperties>
</file>